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png" ContentType="image/png"/>
  <Override PartName="/ppt/media/image2.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Average actual loss</c:v>
                </c:pt>
              </c:strCache>
            </c:strRef>
          </c:tx>
          <c:spPr>
            <a:solidFill>
              <a:srgbClr val="2e6589"/>
            </a:solidFill>
            <a:ln w="25560">
              <a:solidFill>
                <a:srgbClr val="2e6589"/>
              </a:solidFill>
              <a:round/>
            </a:ln>
          </c:spPr>
          <c:marker>
            <c:symbol val="circle"/>
            <c:size val="6"/>
            <c:spPr>
              <a:solidFill>
                <a:srgbClr val="2e6589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1600</c:v>
                </c:pt>
                <c:pt idx="1">
                  <c:v>3100</c:v>
                </c:pt>
                <c:pt idx="2">
                  <c:v>5450</c:v>
                </c:pt>
                <c:pt idx="3">
                  <c:v>8979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Average predicted loss</c:v>
                </c:pt>
              </c:strCache>
            </c:strRef>
          </c:tx>
          <c:spPr>
            <a:solidFill>
              <a:srgbClr val="f0792b"/>
            </a:solidFill>
            <a:ln w="25560">
              <a:solidFill>
                <a:srgbClr val="f0792b"/>
              </a:solidFill>
              <a:round/>
            </a:ln>
          </c:spPr>
          <c:marker>
            <c:symbol val="circle"/>
            <c:size val="6"/>
            <c:spPr>
              <a:solidFill>
                <a:srgbClr val="f0792b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1400</c:v>
                </c:pt>
                <c:pt idx="1">
                  <c:v>2550</c:v>
                </c:pt>
                <c:pt idx="2">
                  <c:v>4650</c:v>
                </c:pt>
                <c:pt idx="3">
                  <c:v>10000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76707646"/>
        <c:axId val="68862113"/>
      </c:lineChart>
      <c:catAx>
        <c:axId val="7670764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ptos"/>
              </a:defRPr>
            </a:pPr>
          </a:p>
        </c:txPr>
        <c:crossAx val="68862113"/>
        <c:crosses val="autoZero"/>
        <c:auto val="1"/>
        <c:lblAlgn val="ctr"/>
        <c:lblOffset val="100"/>
        <c:noMultiLvlLbl val="0"/>
      </c:catAx>
      <c:valAx>
        <c:axId val="68862113"/>
        <c:scaling>
          <c:orientation val="minMax"/>
          <c:max val="12000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9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6707646"/>
        <c:crosses val="autoZero"/>
        <c:crossBetween val="between"/>
        <c:majorUnit val="2000"/>
        <c:dispUnits>
          <c:builtInUnit val="none"/>
          <c:dispUnitsLbl/>
        </c:dispUnits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ptos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50451C-C767-4F3B-BCDF-654FF96388E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EC955D-D506-42D4-9D20-964DB2ACE27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2933E-54E3-4639-A60D-92778A5573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F86024-92B5-49FC-8447-67AD8989176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6570D4-82EF-499D-BC85-55F2A673A17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D6E2BE-FDC1-4686-A434-9CF1F5595CF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0481EF-E251-4CBF-81B0-996085DA8E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5D839E-5DA3-4986-A28B-0867C957E53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FC9D21-04D9-4632-BF59-872497B0A5A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6EC52B-464F-421F-9305-2268ACF8A93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7B52EB-C8ED-4F5D-BD92-7F266002DFE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E831C3-53E8-458A-BA0D-CC0FC4C2194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48640" y="475560"/>
            <a:ext cx="9051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0a3558"/>
                </a:solidFill>
                <a:effectLst/>
                <a:uFillTx/>
                <a:latin typeface="Aptos"/>
              </a:rPr>
              <a:t>Predicting Insurance Claim Severity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67000" y="1042560"/>
            <a:ext cx="7131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A decision-support model for earlier reserve review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67000" y="1874520"/>
            <a:ext cx="5668560" cy="1416600"/>
          </a:xfrm>
          <a:prstGeom prst="roundRect">
            <a:avLst>
              <a:gd name="adj" fmla="val 5161"/>
            </a:avLst>
          </a:prstGeom>
          <a:solidFill>
            <a:srgbClr val="0a3558"/>
          </a:solidFill>
          <a:ln w="12700">
            <a:solidFill>
              <a:srgbClr val="0a35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04600" y="203004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Project question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04600" y="2359080"/>
            <a:ext cx="516564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Can machine learning predict final claim cost well enough to help claims staff prioritize review?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537960" y="1874520"/>
            <a:ext cx="5074200" cy="1416600"/>
          </a:xfrm>
          <a:prstGeom prst="roundRect">
            <a:avLst>
              <a:gd name="adj" fmla="val 5161"/>
            </a:avLst>
          </a:prstGeom>
          <a:solidFill>
            <a:srgbClr val="fff0e7"/>
          </a:solidFill>
          <a:ln w="12700">
            <a:solidFill>
              <a:srgbClr val="f6c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784920" y="2030040"/>
            <a:ext cx="9136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BLUF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6784920" y="2331720"/>
            <a:ext cx="4571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trike="noStrike" u="none">
                <a:solidFill>
                  <a:srgbClr val="0a3558"/>
                </a:solidFill>
                <a:effectLst/>
                <a:uFillTx/>
                <a:latin typeface="Aptos"/>
              </a:rPr>
              <a:t>Use the score to prioritize human review after validation; do not use it alone to set reserves or assign adjusters.</a:t>
            </a:r>
            <a:endParaRPr b="0" lang="en-US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315200" y="5065920"/>
            <a:ext cx="4159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Audience: Claims executives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360920" y="5440680"/>
            <a:ext cx="41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Vasantha Perugu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            MSDS 696 – Practicum II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Regis University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Historical claim data can become a review-priority list.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The model helps decide which files deserve attention first.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822960" y="1783080"/>
            <a:ext cx="2422440" cy="776520"/>
          </a:xfrm>
          <a:prstGeom prst="roundRect">
            <a:avLst>
              <a:gd name="adj" fmla="val 9412"/>
            </a:avLst>
          </a:prstGeom>
          <a:solidFill>
            <a:srgbClr val="e7f0f7"/>
          </a:solidFill>
          <a:ln w="12700">
            <a:solidFill>
              <a:srgbClr val="bcd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96040" y="1856160"/>
            <a:ext cx="22762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1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Historical claim data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Anonymized features + final loss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3401640" y="1993320"/>
            <a:ext cx="4107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3886200" y="1783080"/>
            <a:ext cx="2422440" cy="776520"/>
          </a:xfrm>
          <a:prstGeom prst="roundRect">
            <a:avLst>
              <a:gd name="adj" fmla="val 9412"/>
            </a:avLst>
          </a:prstGeom>
          <a:solidFill>
            <a:srgbClr val="fff0e7"/>
          </a:solidFill>
          <a:ln w="12700">
            <a:solidFill>
              <a:srgbClr val="f6c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3959280" y="1856160"/>
            <a:ext cx="22762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2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Model score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Estimated cost + severity rank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464880" y="1993320"/>
            <a:ext cx="4107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6949440" y="1783080"/>
            <a:ext cx="2422440" cy="776520"/>
          </a:xfrm>
          <a:prstGeom prst="roundRect">
            <a:avLst>
              <a:gd name="adj" fmla="val 9412"/>
            </a:avLst>
          </a:prstGeom>
          <a:solidFill>
            <a:srgbClr val="dff2e5"/>
          </a:solidFill>
          <a:ln w="12700">
            <a:solidFill>
              <a:srgbClr val="b9df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7022520" y="1856160"/>
            <a:ext cx="22762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3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Human review list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7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Claims for earlier reserve attention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822960" y="379476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Project objective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822960" y="4096440"/>
            <a:ext cx="4845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Test whether available claim information can identify claims that deserve earlier reserve review.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6400800" y="379476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Business context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400800" y="4096440"/>
            <a:ext cx="4845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Review time is limited. Missing high-loss claims creates the greatest reserve risk.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Bottom line: useful for review priority, not automated decisions.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The model adds signal, but human review and newer-claim validation are still required.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1005840" y="153612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55.5%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1005840" y="196596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of severe claims captured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in the top 10% review list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4709160" y="153612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30.2%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4709160" y="196596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lower average miss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than the median rule of thumb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8458200" y="153612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c53b2d"/>
                </a:solidFill>
                <a:effectLst/>
                <a:uFillTx/>
                <a:latin typeface="Aptos"/>
              </a:rPr>
              <a:t>85.4%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8458200" y="196596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of very high-severity claims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were under predicted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822960" y="393192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Recommendation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822960" y="4251960"/>
            <a:ext cx="4754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Validate on newer claims first. If the result holds, use the score to support claims staff review.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6400800" y="393192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Keep off-limits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6400800" y="4251960"/>
            <a:ext cx="4754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Do not use the prediction alone to set reserves, approve claims, settle claims, or assign adjusters.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High-loss claims are the main reserve-risk concern.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A typical claim does not show the full risk; the expensive tail matters most.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4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 0" descr="/mnt/data/ppt_assets/image1.png"/>
          <p:cNvPicPr/>
          <p:nvPr/>
        </p:nvPicPr>
        <p:blipFill>
          <a:blip r:embed="rId1"/>
          <a:stretch/>
        </p:blipFill>
        <p:spPr>
          <a:xfrm>
            <a:off x="685800" y="1922040"/>
            <a:ext cx="6765840" cy="296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4"/>
          <p:cNvSpPr/>
          <p:nvPr/>
        </p:nvSpPr>
        <p:spPr>
          <a:xfrm>
            <a:off x="7909560" y="169164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$2,116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7909560" y="2121480"/>
            <a:ext cx="310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median claim loss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7909560" y="2880360"/>
            <a:ext cx="3108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$6,402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7909560" y="3310200"/>
            <a:ext cx="3108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90th percentile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claim loss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7955280" y="443484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0a3558"/>
                </a:solidFill>
                <a:effectLst/>
                <a:uFillTx/>
                <a:latin typeface="Aptos"/>
              </a:rPr>
              <a:t>Business meaning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7955280" y="4736520"/>
            <a:ext cx="32911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Reserve review should focus on the claims most likely to land in the high-cost tail.</a:t>
            </a:r>
            <a:endParaRPr b="0" lang="en-US" sz="1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The data supports prioritization, not full claims automation.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I limited the conclusion to what this anonymized dataset can support.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5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868680" y="150876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Can support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868680" y="1874520"/>
            <a:ext cx="429696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b="1" lang="en-US" sz="14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Predicting final claim loss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Ranking claims by expected cost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Building a queue for earlier human review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6217920" y="1508760"/>
            <a:ext cx="2925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Keep human-controlled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6217920" y="1874520"/>
            <a:ext cx="48456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b="1" lang="en-US" sz="14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Final reserve amount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Adjuster assignment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4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Approval, settlement, or claim outcome decisions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868680" y="464508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Practical claim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2926080" y="4800600"/>
            <a:ext cx="7680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0a3558"/>
                </a:solidFill>
                <a:effectLst/>
                <a:uFillTx/>
                <a:latin typeface="Aptos"/>
              </a:rPr>
              <a:t>The model can support review prioritization, not replace claims decisions.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The selected model cut the average miss by 30.2%.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That shows the claim features contain useful signal.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6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960120" y="1417320"/>
            <a:ext cx="3656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Average prediction miss, lower is better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005840" y="2176200"/>
            <a:ext cx="1645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Selected model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2834640" y="2103120"/>
            <a:ext cx="2999880" cy="163800"/>
          </a:xfrm>
          <a:prstGeom prst="rect">
            <a:avLst/>
          </a:prstGeom>
          <a:solidFill>
            <a:srgbClr val="f0792b"/>
          </a:solidFill>
          <a:ln w="12700">
            <a:solidFill>
              <a:srgbClr val="f07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5945040" y="209412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$1,254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1005840" y="2971800"/>
            <a:ext cx="16452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Median rule of thumb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2834640" y="2889360"/>
            <a:ext cx="4296960" cy="163800"/>
          </a:xfrm>
          <a:prstGeom prst="rect">
            <a:avLst/>
          </a:prstGeom>
          <a:solidFill>
            <a:srgbClr val="2e6589"/>
          </a:solidFill>
          <a:ln w="12700">
            <a:solidFill>
              <a:srgbClr val="2e65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7242120" y="2880360"/>
            <a:ext cx="639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$1,796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7772400" y="1874520"/>
            <a:ext cx="2925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30.2%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7772400" y="2304360"/>
            <a:ext cx="29253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lower average miss than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the median rule of thumb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7772400" y="4114800"/>
            <a:ext cx="1828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0a3558"/>
                </a:solidFill>
                <a:effectLst/>
                <a:uFillTx/>
                <a:latin typeface="Aptos"/>
              </a:rPr>
              <a:t>Interpretation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7772400" y="4407480"/>
            <a:ext cx="31996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The model beats a simple benchmark. But average miss is only the first question; operational safety matters too.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594360" y="6199560"/>
            <a:ext cx="1078920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a8896"/>
                </a:solidFill>
                <a:effectLst/>
                <a:uFillTx/>
                <a:latin typeface="Aptos"/>
              </a:rPr>
              <a:t>Holdout test: 37,664 claims; development: 150,654 claims; total history: 188,318. Method: ridge regression with leakage-controlled target encoding.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The top 10% review list captured 55.5% of severe claims.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This is the strongest business result from the project.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/mnt/data/ppt_assets/review_chart_crop.png"/>
          <p:cNvPicPr/>
          <p:nvPr/>
        </p:nvPicPr>
        <p:blipFill>
          <a:blip r:embed="rId1"/>
          <a:stretch/>
        </p:blipFill>
        <p:spPr>
          <a:xfrm>
            <a:off x="685800" y="2159280"/>
            <a:ext cx="7040160" cy="267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4"/>
          <p:cNvSpPr/>
          <p:nvPr/>
        </p:nvSpPr>
        <p:spPr>
          <a:xfrm>
            <a:off x="8229600" y="155448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2,090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8229600" y="198432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severe claims captured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in the top 10% review list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8229600" y="3063240"/>
            <a:ext cx="2742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55.5%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8229600" y="3493080"/>
            <a:ext cx="2742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severe-claim capture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at 10% review capacity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7818120" y="5166360"/>
            <a:ext cx="3748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Severe claim = actual loss at or above the training-set 90th percentile.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The review list still missed 1,676 severe claims.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That is why existing rules and human judgment should stay in place.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8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868680" y="1508760"/>
            <a:ext cx="22852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At the 10% review cutoff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868680" y="1938600"/>
            <a:ext cx="4617360" cy="328320"/>
          </a:xfrm>
          <a:prstGeom prst="rect">
            <a:avLst/>
          </a:prstGeom>
          <a:solidFill>
            <a:srgbClr val="f0792b"/>
          </a:solidFill>
          <a:ln w="12700">
            <a:solidFill>
              <a:srgbClr val="f07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5486760" y="1938600"/>
            <a:ext cx="3702240" cy="328320"/>
          </a:xfrm>
          <a:prstGeom prst="rect">
            <a:avLst/>
          </a:prstGeom>
          <a:solidFill>
            <a:srgbClr val="c53b2d"/>
          </a:solidFill>
          <a:ln w="12700">
            <a:solidFill>
              <a:srgbClr val="c53b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960120" y="237744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Captured severe claims: 55.5%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5578200" y="237744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53b2d"/>
                </a:solidFill>
                <a:effectLst/>
                <a:uFillTx/>
                <a:latin typeface="Aptos"/>
              </a:rPr>
              <a:t>Missed severe claims: 1,676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868680" y="397764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What this means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868680" y="4316040"/>
            <a:ext cx="4754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The score helps choose what to review first. It does not prove that lower-ranked claims are safe to ignore.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6446520" y="3977640"/>
            <a:ext cx="2193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Recommended use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6446520" y="4316040"/>
            <a:ext cx="4754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Keep existing rules, reviewer overrides, and escalation paths in place.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868680" y="5486400"/>
            <a:ext cx="10332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a3558"/>
                </a:solidFill>
                <a:effectLst/>
                <a:uFillTx/>
                <a:latin typeface="Aptos"/>
              </a:rPr>
              <a:t>A better review queue is not a replacement for controls.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The model ranks claims better than it predicts exact reserve dollars.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Higher scores generally meant higher losses, but very high claims were often underpredicted.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9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4" name="Chart 0"/>
          <p:cNvGraphicFramePr/>
          <p:nvPr/>
        </p:nvGraphicFramePr>
        <p:xfrm>
          <a:off x="777240" y="1463040"/>
          <a:ext cx="6400080" cy="3976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5" name="Text 4"/>
          <p:cNvSpPr/>
          <p:nvPr/>
        </p:nvSpPr>
        <p:spPr>
          <a:xfrm>
            <a:off x="7818120" y="160020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$8,979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7818120" y="203004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average actual loss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in the Very High band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7818120" y="3154680"/>
            <a:ext cx="3291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e6589"/>
                </a:solidFill>
                <a:effectLst/>
                <a:uFillTx/>
                <a:latin typeface="Aptos"/>
              </a:rPr>
              <a:t>85.4%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7818120" y="3584520"/>
            <a:ext cx="3291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of very high-severity claims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were under predicted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7863840" y="5074920"/>
            <a:ext cx="20109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Decision meaning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7863840" y="5376600"/>
            <a:ext cx="3382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30" strike="noStrike" u="none">
                <a:solidFill>
                  <a:srgbClr val="0a3558"/>
                </a:solidFill>
                <a:effectLst/>
                <a:uFillTx/>
                <a:latin typeface="Aptos"/>
              </a:rPr>
              <a:t>Use the score to say “review this earlier,” not “this is the final reserve.”</a:t>
            </a:r>
            <a:endParaRPr b="0" lang="en-US" sz="13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502920" y="292680"/>
            <a:ext cx="11063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0a3558"/>
                </a:solidFill>
                <a:effectLst/>
                <a:uFillTx/>
                <a:latin typeface="Aptos Display"/>
                <a:ea typeface="Aptos Display"/>
              </a:rPr>
              <a:t>Validate on newer claims before operational use.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02920" y="804600"/>
            <a:ext cx="11063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The model should be tested out of time before it enters a live process.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6f7e8d"/>
                </a:solidFill>
                <a:effectLst/>
                <a:uFillTx/>
                <a:latin typeface="Aptos"/>
                <a:ea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11722680" y="6510600"/>
            <a:ext cx="227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6f7e8d"/>
                </a:solidFill>
                <a:effectLst/>
                <a:uFillTx/>
                <a:latin typeface="Aptos"/>
              </a:rPr>
              <a:t>10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868680" y="1874520"/>
            <a:ext cx="2513880" cy="657720"/>
          </a:xfrm>
          <a:prstGeom prst="roundRect">
            <a:avLst>
              <a:gd name="adj" fmla="val 11111"/>
            </a:avLst>
          </a:prstGeom>
          <a:solidFill>
            <a:srgbClr val="e7f0f7"/>
          </a:solidFill>
          <a:ln w="12700">
            <a:solidFill>
              <a:srgbClr val="bcd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941760" y="1947600"/>
            <a:ext cx="23677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1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Validate on newer claims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Use fields available at initial reporting.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3566160" y="2057400"/>
            <a:ext cx="4107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3977640" y="1874520"/>
            <a:ext cx="2513880" cy="657720"/>
          </a:xfrm>
          <a:prstGeom prst="roundRect">
            <a:avLst>
              <a:gd name="adj" fmla="val 11111"/>
            </a:avLst>
          </a:prstGeom>
          <a:solidFill>
            <a:srgbClr val="fff0e7"/>
          </a:solidFill>
          <a:ln w="12700">
            <a:solidFill>
              <a:srgbClr val="f6c7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4050720" y="1947600"/>
            <a:ext cx="23677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2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Run a small review pilot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Send highest-ranked claims to extra review.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6675120" y="2057400"/>
            <a:ext cx="41076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7086600" y="1874520"/>
            <a:ext cx="2513880" cy="657720"/>
          </a:xfrm>
          <a:prstGeom prst="roundRect">
            <a:avLst>
              <a:gd name="adj" fmla="val 11111"/>
            </a:avLst>
          </a:prstGeom>
          <a:solidFill>
            <a:srgbClr val="dff2e5"/>
          </a:solidFill>
          <a:ln w="12700">
            <a:solidFill>
              <a:srgbClr val="b9df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7159680" y="1947600"/>
            <a:ext cx="23677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3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Monitor misses and overrides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e2a35"/>
                </a:solidFill>
                <a:effectLst/>
                <a:uFillTx/>
                <a:latin typeface="Aptos"/>
              </a:rPr>
              <a:t>Track severe claims missed before expanding.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868680" y="4434840"/>
            <a:ext cx="1279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c53b2d"/>
                </a:solidFill>
                <a:effectLst/>
                <a:uFillTx/>
                <a:latin typeface="Aptos"/>
              </a:rPr>
              <a:t>Guardrail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1965960" y="4736520"/>
            <a:ext cx="9051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20" strike="noStrike" u="none">
                <a:solidFill>
                  <a:srgbClr val="c53b2d"/>
                </a:solidFill>
                <a:effectLst/>
                <a:uFillTx/>
                <a:latin typeface="Aptos"/>
              </a:rPr>
              <a:t>Do not use the score alone to set reserves, approve claims, settle claims, or assign adjusters.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2011680" y="5623560"/>
            <a:ext cx="8137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trike="noStrike" u="none">
                <a:solidFill>
                  <a:srgbClr val="617083"/>
                </a:solidFill>
                <a:effectLst/>
                <a:uFillTx/>
                <a:latin typeface="Aptos"/>
              </a:rPr>
              <a:t>If validation does not hold, the model should remain an analysis project.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94360" y="438840"/>
            <a:ext cx="2742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Final recommendation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94360" y="758880"/>
            <a:ext cx="8411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Use the score as a human-review signal.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594360" y="12254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trike="noStrike" u="none">
                <a:solidFill>
                  <a:srgbClr val="bdd1df"/>
                </a:solidFill>
                <a:effectLst/>
                <a:uFillTx/>
                <a:latin typeface="Aptos"/>
              </a:rPr>
              <a:t>The project creates a practical review workflow while keeping the model’s limits clear.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914400" y="2176200"/>
            <a:ext cx="2193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bdd1df"/>
                </a:solidFill>
                <a:effectLst/>
                <a:uFillTx/>
                <a:latin typeface="Aptos"/>
              </a:rPr>
              <a:t>Project outcome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914400" y="2606040"/>
            <a:ext cx="89604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>
              <a:lnSpc>
                <a:spcPct val="100000"/>
              </a:lnSpc>
            </a:pPr>
            <a:r>
              <a:rPr b="1" lang="en-US" sz="13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Built and tested a reproducible claim-severity model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Cut the average miss by 30.2% versus the median rule of thumb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Captured 55.5% of severe claims in a 10% review queue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• </a:t>
            </a:r>
            <a:r>
              <a:rPr b="0" lang="en-US" sz="13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Still missed 1,676 severe claims, so existing controls must stay in place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914400" y="4983480"/>
            <a:ext cx="28339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trike="noStrike" u="none">
                <a:solidFill>
                  <a:srgbClr val="f0792b"/>
                </a:solidFill>
                <a:effectLst/>
                <a:uFillTx/>
                <a:latin typeface="Aptos"/>
              </a:rPr>
              <a:t>Recommended next step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914400" y="5321880"/>
            <a:ext cx="8960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2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Validate on newer claims, then use the score only as an additional signal for human reserve review.</a:t>
            </a:r>
            <a:endParaRPr b="0" lang="en-US" sz="15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502920" y="6528960"/>
            <a:ext cx="60343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9eb4c3"/>
                </a:solidFill>
                <a:effectLst/>
                <a:uFillTx/>
                <a:latin typeface="Aptos"/>
              </a:rPr>
              <a:t>Vasantha Perugu  |  MSDS 696 Practicum II  |  Regis University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1658600" y="6510600"/>
            <a:ext cx="273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9eb4c3"/>
                </a:solidFill>
                <a:effectLst/>
                <a:uFillTx/>
                <a:latin typeface="Aptos"/>
              </a:rPr>
              <a:t>11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LibreOffice/25.2.7.2$Windows_X86_64 LibreOffice_project/5cbfd1ab6520636bb5f7b99185aa69bd7456825d</Application>
  <AppVersion>15.0000</AppVersion>
  <Words>0</Words>
  <Paragraphs>0</Paragraphs>
  <Company>Regis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2026-08-20T12:32:24Z</dcterms:created>
  <dc:creator>Vasantha Perugu</dc:creator>
  <dc:description/>
  <dc:language>en-US</dc:language>
  <cp:lastModifiedBy/>
  <dcterms:modified xsi:type="dcterms:W3CDTF">2026-08-20T06:45:40Z</dcterms:modified>
  <cp:revision>7</cp:revision>
  <dc:subject>Insurance claim severity decision support</dc:subject>
  <dc:title>Predicting Insurance Claim Severity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