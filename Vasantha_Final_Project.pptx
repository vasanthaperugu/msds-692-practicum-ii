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Severe claims captured</c:v>
                </c:pt>
              </c:strCache>
            </c:strRef>
          </c:tx>
          <c:spPr>
            <a:solidFill>
              <a:srgbClr val="2A6389"/>
            </a:solidFill>
            <a:ln w="38100" cap="flat">
              <a:solidFill>
                <a:srgbClr val="2A638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A6389"/>
              </a:solidFill>
              <a:ln w="9525" cap="flat">
                <a:solidFill>
                  <a:srgbClr val="2A6389"/>
                </a:solidFill>
                <a:prstDash val="solid"/>
                <a:round/>
              </a:ln>
              <a:effectLst/>
            </c:spPr>
          </c:marker>
          <c:cat>
            <c:multiLvlStrRef>
              <c:f>Sheet1!$A$2:$A$5</c:f>
              <c:multiLvlStrCache>
                <c:ptCount val="4"/>
                <c:lvl>
                  <c:pt idx="0">
                    <c:v>5%</c:v>
                  </c:pt>
                  <c:pt idx="1">
                    <c:v>10%</c:v>
                  </c:pt>
                  <c:pt idx="2">
                    <c:v>20%</c:v>
                  </c:pt>
                  <c:pt idx="3">
                    <c:v>30%</c:v>
                  </c:pt>
                </c:lvl>
              </c:multiLvlStrCache>
            </c:multiLvlStrRef>
          </c:cat>
          <c:val>
            <c:numRef>
              <c:f>Sheet1!$B$2:$B$5</c:f>
              <c:numCache>
                <c:formatCode>General</c:formatCode>
                <c:ptCount val="4"/>
                <c:pt idx="0">
                  <c:v>34</c:v>
                </c:pt>
                <c:pt idx="1">
                  <c:v>55.5</c:v>
                </c:pt>
                <c:pt idx="2">
                  <c:v>79</c:v>
                </c:pt>
                <c:pt idx="3">
                  <c:v>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Average actual loss</c:v>
                </c:pt>
              </c:strCache>
            </c:strRef>
          </c:tx>
          <c:spPr>
            <a:solidFill>
              <a:srgbClr val="2A6389"/>
            </a:solidFill>
            <a:ln w="25400" cap="flat">
              <a:solidFill>
                <a:srgbClr val="2A638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A6389"/>
              </a:solidFill>
              <a:ln w="9525" cap="flat">
                <a:solidFill>
                  <a:srgbClr val="2A6389"/>
                </a:solidFill>
                <a:prstDash val="solid"/>
                <a:round/>
              </a:ln>
              <a:effectLst/>
            </c:spPr>
          </c:marker>
          <c:cat>
            <c:multiLvlStrRef>
              <c:f>Sheet1!$A$2:$A$5</c:f>
              <c:multiLvlStrCache>
                <c:ptCount val="4"/>
                <c:lvl>
                  <c:pt idx="0">
                    <c:v>Low</c:v>
                  </c:pt>
                  <c:pt idx="1">
                    <c:v>Medium</c:v>
                  </c:pt>
                  <c:pt idx="2">
                    <c:v>High</c:v>
                  </c:pt>
                  <c:pt idx="3">
                    <c:v>Very High</c:v>
                  </c:pt>
                </c:lvl>
              </c:multiLvlStrCache>
            </c:multiLvlStrRef>
          </c:cat>
          <c:val>
            <c:numRef>
              <c:f>Sheet1!$B$2:$B$5</c:f>
              <c:numCache>
                <c:formatCode>General</c:formatCode>
                <c:ptCount val="4"/>
                <c:pt idx="0">
                  <c:v>1650</c:v>
                </c:pt>
                <c:pt idx="1">
                  <c:v>3100</c:v>
                </c:pt>
                <c:pt idx="2">
                  <c:v>5400</c:v>
                </c:pt>
                <c:pt idx="3">
                  <c:v>8979</c:v>
                </c:pt>
              </c:numCache>
            </c:numRef>
          </c:val>
          <c:smooth val="0"/>
        </c:ser>
        <c:ser>
          <c:idx val="1"/>
          <c:order val="1"/>
          <c:tx>
            <c:strRef>
              <c:f>Sheet1!$C$1</c:f>
              <c:strCache>
                <c:ptCount val="1"/>
                <c:pt idx="0">
                  <c:v>Average predicted loss</c:v>
                </c:pt>
              </c:strCache>
            </c:strRef>
          </c:tx>
          <c:spPr>
            <a:solidFill>
              <a:srgbClr val="F47C20"/>
            </a:solidFill>
            <a:ln w="25400" cap="flat">
              <a:solidFill>
                <a:srgbClr val="F47C2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47C20"/>
              </a:solidFill>
              <a:ln w="9525" cap="flat">
                <a:solidFill>
                  <a:srgbClr val="F47C20"/>
                </a:solidFill>
                <a:prstDash val="solid"/>
                <a:round/>
              </a:ln>
              <a:effectLst/>
            </c:spPr>
          </c:marker>
          <c:cat>
            <c:multiLvlStrRef>
              <c:f>Sheet1!$A$2:$A$5</c:f>
              <c:multiLvlStrCache>
                <c:ptCount val="4"/>
                <c:lvl>
                  <c:pt idx="0">
                    <c:v>Low</c:v>
                  </c:pt>
                  <c:pt idx="1">
                    <c:v>Medium</c:v>
                  </c:pt>
                  <c:pt idx="2">
                    <c:v>High</c:v>
                  </c:pt>
                  <c:pt idx="3">
                    <c:v>Very High</c:v>
                  </c:pt>
                </c:lvl>
              </c:multiLvlStrCache>
            </c:multiLvlStrRef>
          </c:cat>
          <c:val>
            <c:numRef>
              <c:f>Sheet1!$C$2:$C$5</c:f>
              <c:numCache>
                <c:formatCode>General</c:formatCode>
                <c:ptCount val="4"/>
                <c:pt idx="0">
                  <c:v>1400</c:v>
                </c:pt>
                <c:pt idx="1">
                  <c:v>2550</c:v>
                </c:pt>
                <c:pt idx="2">
                  <c:v>4600</c:v>
                </c:pt>
                <c:pt idx="3">
                  <c:v>9950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4"/>
        <c:crosses val="autoZero"/>
        <c:crossBetween val="between"/>
      </c:valAx>
      <c:spPr>
        <a:noFill/>
        <a:ln>
          <a:noFill/>
        </a:ln>
        <a:effectLst/>
      </c:spPr>
    </c:plotArea>
    <c:legend>
      <c:legendPos val="t"/>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Today I am presenting my final project on predicting insurance claim severity. Severity means the final claim cost to the insurer. My bottom-line answer is positive but careful: yes, the model can help prioritize human reserve review after validation; no, it should not automatically set reserves or assign adjusters. The purpose is decision support, not claims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The workflow is simple. I start with historical Allstate claim data, including anonymized features and the final loss amount. The model gives each claim an estimated cost and a rank. That rank becomes a review-priority list. In plain English, the model does not decide the claim. It helps decide what to review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This is the main answer. The model is useful as a human-review signal. It improved average error by 30.2 percent and captured 55.5 percent of severe claims when only the top 10 percent of claims were sent to review. But it also underpredicted many very high-severity claims, so I would not use it by itself to set reserves or assign adjusters.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Claim losses are very uneven. Most claims are closer to the lower-cost range, but a smaller group becomes much more expensive. The red marker shows the median claim loss of about 2,116 dollars. The 90th percentile was about 6,402 dollars. That tail is the reserve-risk problem: a few high-cost claims can create a much larger business impact than many normal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This slide sets the boundary. The dataset can support prediction, ranking, and a review queue. But the model should not decide the final reserve amount, pick an adjuster, or make approval and settlement decisions. The practical claim is narrower and safer: the score can be one additional signal for review prioritization.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I used 188,318 historical claims. I built the model with 150,654 claims and tested it on 37,664 held-out claims. That means the results shown in the presentation come from claims the model did not train on. The selected model was Ridge regression with a log-transformed loss target and leakage-controlled target encoding. In simpler terms, it is a stable model, and I took steps to prevent the answer from leaking into the training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The first result is average prediction error. The median baseline had an MAE of 1,796 dollars. The selected model reduced that to 1,254 dollars, which is a 30.2 percent improvement. This tells me the claim features contain useful signal. But average error alone is not enough for an operational decision, so I also looked at severe-claim capture and underprediction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This is the strongest practical result. When I ranked the validation claims and reviewed only the top 10 percent, the model captured 55.5 percent of all severe claims. A random 10 percent review would find about 10 percent. So the model clearly improves the review order and helps focus limited review time where it is more likely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The same result also has an important limitation. At the 10 percent review cutoff, the model still missed 1,676 severe claims. So the score cannot tell the claims team which files are safe to ignore. Existing rules, reviewer judgment, overrides, and escalation paths still need to stay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Another useful finding is that the model is better at ranking claims than predicting the exact final dollar amount. Higher predicted review bands generally had higher actual losses, and the ranking relationship was 0.707. That supports using the score for prioritization. It does not support using the prediction as the final reserve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This is the biggest caution. For very high-severity claims, which are above the training-set 95th percentile, the model underpredicted 85.4 percent of the time. When underprediction happened, the average shortfall was about 5,707 dollars. That is why I do not recommend using the prediction as the reserve amount. The safer use is to trigger extra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My next step would be validation on newer claims before any operational use. I would check whether the error, ranking, calibration, and severe-claim capture still hold over time. Then I would run a small review pilot and monitor misses and overrides. The guardrail is clear: do not use the score alone to set reserves, approve claims, settle claims, or assign adjusters.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My final recommendation is to use the score as an additional signal for human reserve review. The project shows that the model can improve average accuracy and concentrate severe claims near the top of a review list. It should not set reserves or replace human judgment. After model selection, I also generated final test predictions and completed the project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1</a:t>
            </a:r>
            <a:endParaRPr lang="en-US" sz="600" dirty="0"/>
          </a:p>
        </p:txBody>
      </p:sp>
      <p:sp>
        <p:nvSpPr>
          <p:cNvPr id="5" name="Shape 3"/>
          <p:cNvSpPr/>
          <p:nvPr/>
        </p:nvSpPr>
        <p:spPr>
          <a:xfrm>
            <a:off x="0" y="0"/>
            <a:ext cx="182880" cy="6858000"/>
          </a:xfrm>
          <a:prstGeom prst="rect">
            <a:avLst/>
          </a:prstGeom>
          <a:solidFill>
            <a:srgbClr val="F47C20"/>
          </a:solidFill>
          <a:ln w="12700">
            <a:solidFill>
              <a:srgbClr val="333333">
                <a:alpha val="0"/>
              </a:srgbClr>
            </a:solidFill>
            <a:prstDash val="solid"/>
          </a:ln>
        </p:spPr>
      </p:sp>
      <p:sp>
        <p:nvSpPr>
          <p:cNvPr id="6" name="Text 4"/>
          <p:cNvSpPr/>
          <p:nvPr/>
        </p:nvSpPr>
        <p:spPr>
          <a:xfrm>
            <a:off x="658368" y="1234440"/>
            <a:ext cx="9966960" cy="713232"/>
          </a:xfrm>
          <a:prstGeom prst="rect">
            <a:avLst/>
          </a:prstGeom>
          <a:noFill/>
          <a:ln/>
        </p:spPr>
        <p:txBody>
          <a:bodyPr wrap="square" lIns="0" tIns="0" rIns="0" bIns="0" rtlCol="0" anchor="ctr">
            <a:normAutofit/>
          </a:bodyPr>
          <a:lstStyle/>
          <a:p>
            <a:pPr indent="0" marL="0">
              <a:buNone/>
            </a:pPr>
            <a:r>
              <a:rPr lang="en-US" sz="3000" b="1" dirty="0">
                <a:solidFill>
                  <a:srgbClr val="0B2341"/>
                </a:solidFill>
                <a:latin typeface="Aptos Display" pitchFamily="34" charset="0"/>
                <a:ea typeface="Aptos Display" pitchFamily="34" charset="-122"/>
                <a:cs typeface="Aptos Display" pitchFamily="34" charset="-120"/>
              </a:rPr>
              <a:t>Predicting Insurance Claim Severity</a:t>
            </a:r>
            <a:endParaRPr lang="en-US" sz="3000" dirty="0"/>
          </a:p>
        </p:txBody>
      </p:sp>
      <p:sp>
        <p:nvSpPr>
          <p:cNvPr id="7" name="Text 5"/>
          <p:cNvSpPr/>
          <p:nvPr/>
        </p:nvSpPr>
        <p:spPr>
          <a:xfrm>
            <a:off x="676656" y="1965960"/>
            <a:ext cx="7772400" cy="320040"/>
          </a:xfrm>
          <a:prstGeom prst="rect">
            <a:avLst/>
          </a:prstGeom>
          <a:noFill/>
          <a:ln/>
        </p:spPr>
        <p:txBody>
          <a:bodyPr wrap="square" lIns="0" tIns="0" rIns="0" bIns="0" rtlCol="0" anchor="ctr"/>
          <a:lstStyle/>
          <a:p>
            <a:pPr indent="0" marL="0">
              <a:buNone/>
            </a:pPr>
            <a:r>
              <a:rPr lang="en-US" sz="1600" dirty="0">
                <a:solidFill>
                  <a:srgbClr val="667085"/>
                </a:solidFill>
              </a:rPr>
              <a:t>A decision-support model for earlier reserve review</a:t>
            </a:r>
            <a:endParaRPr lang="en-US" sz="1600" dirty="0"/>
          </a:p>
        </p:txBody>
      </p:sp>
      <p:sp>
        <p:nvSpPr>
          <p:cNvPr id="8" name="Text 6"/>
          <p:cNvSpPr/>
          <p:nvPr/>
        </p:nvSpPr>
        <p:spPr>
          <a:xfrm>
            <a:off x="713232" y="2788920"/>
            <a:ext cx="2103120" cy="256032"/>
          </a:xfrm>
          <a:prstGeom prst="rect">
            <a:avLst/>
          </a:prstGeom>
          <a:noFill/>
          <a:ln/>
        </p:spPr>
        <p:txBody>
          <a:bodyPr wrap="square" lIns="0" tIns="0" rIns="0" bIns="0" rtlCol="0" anchor="ctr"/>
          <a:lstStyle/>
          <a:p>
            <a:pPr indent="0" marL="0">
              <a:buNone/>
            </a:pPr>
            <a:r>
              <a:rPr lang="en-US" sz="1200" b="1" dirty="0">
                <a:solidFill>
                  <a:srgbClr val="F47C20"/>
                </a:solidFill>
              </a:rPr>
              <a:t>Project Question</a:t>
            </a:r>
            <a:endParaRPr lang="en-US" sz="1200" dirty="0"/>
          </a:p>
        </p:txBody>
      </p:sp>
      <p:sp>
        <p:nvSpPr>
          <p:cNvPr id="9" name="Text 7"/>
          <p:cNvSpPr/>
          <p:nvPr/>
        </p:nvSpPr>
        <p:spPr>
          <a:xfrm>
            <a:off x="713232" y="3127248"/>
            <a:ext cx="7772400" cy="804672"/>
          </a:xfrm>
          <a:prstGeom prst="rect">
            <a:avLst/>
          </a:prstGeom>
          <a:noFill/>
          <a:ln/>
        </p:spPr>
        <p:txBody>
          <a:bodyPr wrap="square" lIns="254" tIns="254" rIns="254" bIns="254" rtlCol="0" anchor="ctr">
            <a:normAutofit/>
          </a:bodyPr>
          <a:lstStyle/>
          <a:p>
            <a:pPr indent="0" marL="0">
              <a:buNone/>
            </a:pPr>
            <a:r>
              <a:rPr lang="en-US" sz="2000" b="1" dirty="0">
                <a:solidFill>
                  <a:srgbClr val="0B2341"/>
                </a:solidFill>
              </a:rPr>
              <a:t>Can machine learning predict final claim cost well enough to help claims staff prioritize review?</a:t>
            </a:r>
            <a:endParaRPr lang="en-US" sz="2000" dirty="0"/>
          </a:p>
        </p:txBody>
      </p:sp>
      <p:sp>
        <p:nvSpPr>
          <p:cNvPr id="10" name="Text 8"/>
          <p:cNvSpPr/>
          <p:nvPr/>
        </p:nvSpPr>
        <p:spPr>
          <a:xfrm>
            <a:off x="8641080" y="4617720"/>
            <a:ext cx="2468880" cy="685800"/>
          </a:xfrm>
          <a:prstGeom prst="rect">
            <a:avLst/>
          </a:prstGeom>
          <a:noFill/>
          <a:ln/>
        </p:spPr>
        <p:txBody>
          <a:bodyPr wrap="square" lIns="0" tIns="0" rIns="0" bIns="0" rtlCol="0" anchor="ctr"/>
          <a:lstStyle/>
          <a:p>
            <a:pPr algn="r" indent="0" marL="0">
              <a:buNone/>
            </a:pPr>
            <a:r>
              <a:rPr lang="en-US" sz="1100" dirty="0">
                <a:solidFill>
                  <a:srgbClr val="0B2341"/>
                </a:solidFill>
              </a:rPr>
              <a:t>Vasantha Perugu</a:t>
            </a:r>
            <a:endParaRPr lang="en-US" sz="1100" dirty="0"/>
          </a:p>
          <a:p>
            <a:pPr algn="r" indent="0" marL="0">
              <a:buNone/>
            </a:pPr>
            <a:r>
              <a:rPr lang="en-US" sz="1100" dirty="0">
                <a:solidFill>
                  <a:srgbClr val="0B2341"/>
                </a:solidFill>
              </a:rPr>
              <a:t>MSDS 696 – Practicum II</a:t>
            </a:r>
            <a:endParaRPr lang="en-US" sz="1100" dirty="0"/>
          </a:p>
          <a:p>
            <a:pPr algn="r" indent="0" marL="0">
              <a:buNone/>
            </a:pPr>
            <a:r>
              <a:rPr lang="en-US" sz="1100" dirty="0">
                <a:solidFill>
                  <a:srgbClr val="0B2341"/>
                </a:solidFill>
              </a:rPr>
              <a:t>Regis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2</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Historical claim data can become a review-priority list.</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The model helps decide which files deserve attention first.</a:t>
            </a:r>
            <a:endParaRPr lang="en-US" sz="1150" dirty="0"/>
          </a:p>
        </p:txBody>
      </p:sp>
      <p:sp>
        <p:nvSpPr>
          <p:cNvPr id="7" name="Text 5"/>
          <p:cNvSpPr/>
          <p:nvPr/>
        </p:nvSpPr>
        <p:spPr>
          <a:xfrm>
            <a:off x="822960" y="1920240"/>
            <a:ext cx="2514600" cy="914400"/>
          </a:xfrm>
          <a:prstGeom prst="rect">
            <a:avLst/>
          </a:prstGeom>
          <a:solidFill>
            <a:srgbClr val="EAF2F8"/>
          </a:solidFill>
          <a:ln>
            <a:solidFill>
              <a:srgbClr val="EAF2F8">
                <a:alpha val="0"/>
              </a:srgbClr>
            </a:solidFill>
          </a:ln>
        </p:spPr>
        <p:txBody>
          <a:bodyPr wrap="square" lIns="762" tIns="762" rIns="762" bIns="762" rtlCol="0" anchor="ctr">
            <a:normAutofit/>
          </a:bodyPr>
          <a:lstStyle/>
          <a:p>
            <a:pPr algn="ctr" indent="0" marL="0">
              <a:buNone/>
            </a:pPr>
            <a:r>
              <a:rPr lang="en-US" sz="1050" b="1" dirty="0">
                <a:solidFill>
                  <a:srgbClr val="0B2341"/>
                </a:solidFill>
              </a:rPr>
              <a:t>1</a:t>
            </a:r>
            <a:endParaRPr lang="en-US" sz="1050" dirty="0"/>
          </a:p>
          <a:p>
            <a:pPr algn="ctr" indent="0" marL="0">
              <a:buNone/>
            </a:pPr>
            <a:r>
              <a:rPr lang="en-US" sz="1050" b="1" dirty="0">
                <a:solidFill>
                  <a:srgbClr val="0B2341"/>
                </a:solidFill>
              </a:rPr>
              <a:t>Historical claim data</a:t>
            </a:r>
            <a:endParaRPr lang="en-US" sz="1050" dirty="0"/>
          </a:p>
          <a:p>
            <a:pPr algn="ctr" indent="0" marL="0">
              <a:buNone/>
            </a:pPr>
            <a:r>
              <a:rPr lang="en-US" sz="1050" b="1" dirty="0">
                <a:solidFill>
                  <a:srgbClr val="0B2341"/>
                </a:solidFill>
              </a:rPr>
              <a:t>Anonymized features + final loss</a:t>
            </a:r>
            <a:endParaRPr lang="en-US" sz="1050" dirty="0"/>
          </a:p>
        </p:txBody>
      </p:sp>
      <p:sp>
        <p:nvSpPr>
          <p:cNvPr id="8" name="Shape 6"/>
          <p:cNvSpPr/>
          <p:nvPr/>
        </p:nvSpPr>
        <p:spPr>
          <a:xfrm>
            <a:off x="3547872" y="2377440"/>
            <a:ext cx="521208" cy="0"/>
          </a:xfrm>
          <a:prstGeom prst="line">
            <a:avLst/>
          </a:prstGeom>
          <a:noFill/>
          <a:ln w="20320">
            <a:solidFill>
              <a:srgbClr val="F47C20"/>
            </a:solidFill>
            <a:prstDash val="solid"/>
            <a:headEnd type="none"/>
            <a:tailEnd type="triangle"/>
          </a:ln>
        </p:spPr>
      </p:sp>
      <p:sp>
        <p:nvSpPr>
          <p:cNvPr id="9" name="Text 7"/>
          <p:cNvSpPr/>
          <p:nvPr/>
        </p:nvSpPr>
        <p:spPr>
          <a:xfrm>
            <a:off x="4251960" y="1920240"/>
            <a:ext cx="2514600" cy="914400"/>
          </a:xfrm>
          <a:prstGeom prst="rect">
            <a:avLst/>
          </a:prstGeom>
          <a:solidFill>
            <a:srgbClr val="FFF1E6"/>
          </a:solidFill>
          <a:ln>
            <a:solidFill>
              <a:srgbClr val="FFF1E6">
                <a:alpha val="0"/>
              </a:srgbClr>
            </a:solidFill>
          </a:ln>
        </p:spPr>
        <p:txBody>
          <a:bodyPr wrap="square" lIns="762" tIns="762" rIns="762" bIns="762" rtlCol="0" anchor="ctr">
            <a:normAutofit/>
          </a:bodyPr>
          <a:lstStyle/>
          <a:p>
            <a:pPr algn="ctr" indent="0" marL="0">
              <a:buNone/>
            </a:pPr>
            <a:r>
              <a:rPr lang="en-US" sz="1050" b="1" dirty="0">
                <a:solidFill>
                  <a:srgbClr val="0B2341"/>
                </a:solidFill>
              </a:rPr>
              <a:t>2</a:t>
            </a:r>
            <a:endParaRPr lang="en-US" sz="1050" dirty="0"/>
          </a:p>
          <a:p>
            <a:pPr algn="ctr" indent="0" marL="0">
              <a:buNone/>
            </a:pPr>
            <a:r>
              <a:rPr lang="en-US" sz="1050" b="1" dirty="0">
                <a:solidFill>
                  <a:srgbClr val="0B2341"/>
                </a:solidFill>
              </a:rPr>
              <a:t>Model score</a:t>
            </a:r>
            <a:endParaRPr lang="en-US" sz="1050" dirty="0"/>
          </a:p>
          <a:p>
            <a:pPr algn="ctr" indent="0" marL="0">
              <a:buNone/>
            </a:pPr>
            <a:r>
              <a:rPr lang="en-US" sz="1050" b="1" dirty="0">
                <a:solidFill>
                  <a:srgbClr val="0B2341"/>
                </a:solidFill>
              </a:rPr>
              <a:t>Estimated cost + severity rank</a:t>
            </a:r>
            <a:endParaRPr lang="en-US" sz="1050" dirty="0"/>
          </a:p>
        </p:txBody>
      </p:sp>
      <p:sp>
        <p:nvSpPr>
          <p:cNvPr id="10" name="Shape 8"/>
          <p:cNvSpPr/>
          <p:nvPr/>
        </p:nvSpPr>
        <p:spPr>
          <a:xfrm>
            <a:off x="6976872" y="2377440"/>
            <a:ext cx="521208" cy="0"/>
          </a:xfrm>
          <a:prstGeom prst="line">
            <a:avLst/>
          </a:prstGeom>
          <a:noFill/>
          <a:ln w="20320">
            <a:solidFill>
              <a:srgbClr val="F47C20"/>
            </a:solidFill>
            <a:prstDash val="solid"/>
            <a:headEnd type="none"/>
            <a:tailEnd type="triangle"/>
          </a:ln>
        </p:spPr>
      </p:sp>
      <p:sp>
        <p:nvSpPr>
          <p:cNvPr id="11" name="Text 9"/>
          <p:cNvSpPr/>
          <p:nvPr/>
        </p:nvSpPr>
        <p:spPr>
          <a:xfrm>
            <a:off x="7680960" y="1920240"/>
            <a:ext cx="2788920" cy="914400"/>
          </a:xfrm>
          <a:prstGeom prst="rect">
            <a:avLst/>
          </a:prstGeom>
          <a:solidFill>
            <a:srgbClr val="EAF5EE"/>
          </a:solidFill>
          <a:ln>
            <a:solidFill>
              <a:srgbClr val="EAF5EE">
                <a:alpha val="0"/>
              </a:srgbClr>
            </a:solidFill>
          </a:ln>
        </p:spPr>
        <p:txBody>
          <a:bodyPr wrap="square" lIns="762" tIns="762" rIns="762" bIns="762" rtlCol="0" anchor="ctr">
            <a:normAutofit/>
          </a:bodyPr>
          <a:lstStyle/>
          <a:p>
            <a:pPr algn="ctr" indent="0" marL="0">
              <a:buNone/>
            </a:pPr>
            <a:r>
              <a:rPr lang="en-US" sz="1050" b="1" dirty="0">
                <a:solidFill>
                  <a:srgbClr val="0B2341"/>
                </a:solidFill>
              </a:rPr>
              <a:t>3</a:t>
            </a:r>
            <a:endParaRPr lang="en-US" sz="1050" dirty="0"/>
          </a:p>
          <a:p>
            <a:pPr algn="ctr" indent="0" marL="0">
              <a:buNone/>
            </a:pPr>
            <a:r>
              <a:rPr lang="en-US" sz="1050" b="1" dirty="0">
                <a:solidFill>
                  <a:srgbClr val="0B2341"/>
                </a:solidFill>
              </a:rPr>
              <a:t>Human review list</a:t>
            </a:r>
            <a:endParaRPr lang="en-US" sz="1050" dirty="0"/>
          </a:p>
          <a:p>
            <a:pPr algn="ctr" indent="0" marL="0">
              <a:buNone/>
            </a:pPr>
            <a:r>
              <a:rPr lang="en-US" sz="1050" b="1" dirty="0">
                <a:solidFill>
                  <a:srgbClr val="0B2341"/>
                </a:solidFill>
              </a:rPr>
              <a:t>Claims for earlier reserve attention</a:t>
            </a:r>
            <a:endParaRPr lang="en-US" sz="1050" dirty="0"/>
          </a:p>
        </p:txBody>
      </p:sp>
      <p:sp>
        <p:nvSpPr>
          <p:cNvPr id="12" name="Text 10"/>
          <p:cNvSpPr/>
          <p:nvPr/>
        </p:nvSpPr>
        <p:spPr>
          <a:xfrm>
            <a:off x="868680" y="4069080"/>
            <a:ext cx="2194560" cy="256032"/>
          </a:xfrm>
          <a:prstGeom prst="rect">
            <a:avLst/>
          </a:prstGeom>
          <a:noFill/>
          <a:ln/>
        </p:spPr>
        <p:txBody>
          <a:bodyPr wrap="square" lIns="0" tIns="0" rIns="0" bIns="0" rtlCol="0" anchor="ctr"/>
          <a:lstStyle/>
          <a:p>
            <a:pPr indent="0" marL="0">
              <a:buNone/>
            </a:pPr>
            <a:r>
              <a:rPr lang="en-US" sz="1300" b="1" dirty="0">
                <a:solidFill>
                  <a:srgbClr val="0B2341"/>
                </a:solidFill>
              </a:rPr>
              <a:t>Project objective</a:t>
            </a:r>
            <a:endParaRPr lang="en-US" sz="1300" dirty="0"/>
          </a:p>
        </p:txBody>
      </p:sp>
      <p:sp>
        <p:nvSpPr>
          <p:cNvPr id="13" name="Text 11"/>
          <p:cNvSpPr/>
          <p:nvPr/>
        </p:nvSpPr>
        <p:spPr>
          <a:xfrm>
            <a:off x="868680" y="4434840"/>
            <a:ext cx="4846320" cy="420624"/>
          </a:xfrm>
          <a:prstGeom prst="rect">
            <a:avLst/>
          </a:prstGeom>
          <a:noFill/>
          <a:ln/>
        </p:spPr>
        <p:txBody>
          <a:bodyPr wrap="square" lIns="0" tIns="0" rIns="0" bIns="0" rtlCol="0" anchor="ctr"/>
          <a:lstStyle/>
          <a:p>
            <a:pPr indent="0" marL="0">
              <a:buNone/>
            </a:pPr>
            <a:r>
              <a:rPr lang="en-US" sz="1400" dirty="0">
                <a:solidFill>
                  <a:srgbClr val="1F2937"/>
                </a:solidFill>
              </a:rPr>
              <a:t>Test whether available claim information can identify claims that deserve earlier reserve review.</a:t>
            </a:r>
            <a:endParaRPr lang="en-US" sz="1400" dirty="0"/>
          </a:p>
        </p:txBody>
      </p:sp>
      <p:sp>
        <p:nvSpPr>
          <p:cNvPr id="14" name="Text 12"/>
          <p:cNvSpPr/>
          <p:nvPr/>
        </p:nvSpPr>
        <p:spPr>
          <a:xfrm>
            <a:off x="6629400" y="4069080"/>
            <a:ext cx="2194560" cy="256032"/>
          </a:xfrm>
          <a:prstGeom prst="rect">
            <a:avLst/>
          </a:prstGeom>
          <a:noFill/>
          <a:ln/>
        </p:spPr>
        <p:txBody>
          <a:bodyPr wrap="square" lIns="0" tIns="0" rIns="0" bIns="0" rtlCol="0" anchor="ctr"/>
          <a:lstStyle/>
          <a:p>
            <a:pPr indent="0" marL="0">
              <a:buNone/>
            </a:pPr>
            <a:r>
              <a:rPr lang="en-US" sz="1300" b="1" dirty="0">
                <a:solidFill>
                  <a:srgbClr val="0B2341"/>
                </a:solidFill>
              </a:rPr>
              <a:t>Business context</a:t>
            </a:r>
            <a:endParaRPr lang="en-US" sz="1300" dirty="0"/>
          </a:p>
        </p:txBody>
      </p:sp>
      <p:sp>
        <p:nvSpPr>
          <p:cNvPr id="15" name="Text 13"/>
          <p:cNvSpPr/>
          <p:nvPr/>
        </p:nvSpPr>
        <p:spPr>
          <a:xfrm>
            <a:off x="6629400" y="4434840"/>
            <a:ext cx="4297680" cy="475488"/>
          </a:xfrm>
          <a:prstGeom prst="rect">
            <a:avLst/>
          </a:prstGeom>
          <a:noFill/>
          <a:ln/>
        </p:spPr>
        <p:txBody>
          <a:bodyPr wrap="square" lIns="0" tIns="0" rIns="0" bIns="0" rtlCol="0" anchor="ctr"/>
          <a:lstStyle/>
          <a:p>
            <a:pPr indent="0" marL="0">
              <a:buNone/>
            </a:pPr>
            <a:r>
              <a:rPr lang="en-US" sz="1400" dirty="0">
                <a:solidFill>
                  <a:srgbClr val="1F2937"/>
                </a:solidFill>
              </a:rPr>
              <a:t>Review time is limited. Missing high-loss claims creates the greatest reserve risk.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3</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Bottom line: useful for review priority, not automated decisions.</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The model adds signal, but human review and newer-claim validation are still required.</a:t>
            </a:r>
            <a:endParaRPr lang="en-US" sz="1150" dirty="0"/>
          </a:p>
        </p:txBody>
      </p:sp>
      <p:sp>
        <p:nvSpPr>
          <p:cNvPr id="7" name="Text 5"/>
          <p:cNvSpPr/>
          <p:nvPr/>
        </p:nvSpPr>
        <p:spPr>
          <a:xfrm>
            <a:off x="685800" y="1828800"/>
            <a:ext cx="2286000" cy="384048"/>
          </a:xfrm>
          <a:prstGeom prst="rect">
            <a:avLst/>
          </a:prstGeom>
          <a:noFill/>
          <a:ln/>
        </p:spPr>
        <p:txBody>
          <a:bodyPr wrap="square" lIns="0" tIns="0" rIns="0" bIns="0" rtlCol="0" anchor="ctr"/>
          <a:lstStyle/>
          <a:p>
            <a:pPr algn="ctr" indent="0" marL="0">
              <a:buNone/>
            </a:pPr>
            <a:r>
              <a:rPr lang="en-US" sz="2400" b="1" dirty="0">
                <a:solidFill>
                  <a:srgbClr val="F47C20"/>
                </a:solidFill>
              </a:rPr>
              <a:t>55.5%</a:t>
            </a:r>
            <a:endParaRPr lang="en-US" sz="2400" dirty="0"/>
          </a:p>
        </p:txBody>
      </p:sp>
      <p:sp>
        <p:nvSpPr>
          <p:cNvPr id="8" name="Text 6"/>
          <p:cNvSpPr/>
          <p:nvPr/>
        </p:nvSpPr>
        <p:spPr>
          <a:xfrm>
            <a:off x="685800" y="2267712"/>
            <a:ext cx="228600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of severe claims captured</a:t>
            </a:r>
            <a:endParaRPr lang="en-US" sz="850" dirty="0"/>
          </a:p>
        </p:txBody>
      </p:sp>
      <p:sp>
        <p:nvSpPr>
          <p:cNvPr id="9" name="Text 7"/>
          <p:cNvSpPr/>
          <p:nvPr/>
        </p:nvSpPr>
        <p:spPr>
          <a:xfrm>
            <a:off x="685800" y="2578608"/>
            <a:ext cx="2286000" cy="274320"/>
          </a:xfrm>
          <a:prstGeom prst="rect">
            <a:avLst/>
          </a:prstGeom>
          <a:noFill/>
          <a:ln/>
        </p:spPr>
        <p:txBody>
          <a:bodyPr wrap="square" lIns="254" tIns="254" rIns="254" bIns="254" rtlCol="0" anchor="ctr">
            <a:normAutofit/>
          </a:bodyPr>
          <a:lstStyle/>
          <a:p>
            <a:pPr algn="ctr" indent="0" marL="0">
              <a:buNone/>
            </a:pPr>
            <a:r>
              <a:rPr lang="en-US" sz="750" dirty="0">
                <a:solidFill>
                  <a:srgbClr val="667085"/>
                </a:solidFill>
              </a:rPr>
              <a:t>in the top 10% review list</a:t>
            </a:r>
            <a:endParaRPr lang="en-US" sz="750" dirty="0"/>
          </a:p>
        </p:txBody>
      </p:sp>
      <p:sp>
        <p:nvSpPr>
          <p:cNvPr id="10" name="Text 8"/>
          <p:cNvSpPr/>
          <p:nvPr/>
        </p:nvSpPr>
        <p:spPr>
          <a:xfrm>
            <a:off x="4754880" y="1828800"/>
            <a:ext cx="2286000" cy="384048"/>
          </a:xfrm>
          <a:prstGeom prst="rect">
            <a:avLst/>
          </a:prstGeom>
          <a:noFill/>
          <a:ln/>
        </p:spPr>
        <p:txBody>
          <a:bodyPr wrap="square" lIns="0" tIns="0" rIns="0" bIns="0" rtlCol="0" anchor="ctr"/>
          <a:lstStyle/>
          <a:p>
            <a:pPr algn="ctr" indent="0" marL="0">
              <a:buNone/>
            </a:pPr>
            <a:r>
              <a:rPr lang="en-US" sz="2400" b="1" dirty="0">
                <a:solidFill>
                  <a:srgbClr val="2A6389"/>
                </a:solidFill>
              </a:rPr>
              <a:t>30.2%</a:t>
            </a:r>
            <a:endParaRPr lang="en-US" sz="2400" dirty="0"/>
          </a:p>
        </p:txBody>
      </p:sp>
      <p:sp>
        <p:nvSpPr>
          <p:cNvPr id="11" name="Text 9"/>
          <p:cNvSpPr/>
          <p:nvPr/>
        </p:nvSpPr>
        <p:spPr>
          <a:xfrm>
            <a:off x="4754880" y="2267712"/>
            <a:ext cx="228600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lower average error</a:t>
            </a:r>
            <a:endParaRPr lang="en-US" sz="850" dirty="0"/>
          </a:p>
        </p:txBody>
      </p:sp>
      <p:sp>
        <p:nvSpPr>
          <p:cNvPr id="12" name="Text 10"/>
          <p:cNvSpPr/>
          <p:nvPr/>
        </p:nvSpPr>
        <p:spPr>
          <a:xfrm>
            <a:off x="4754880" y="2578608"/>
            <a:ext cx="2286000" cy="274320"/>
          </a:xfrm>
          <a:prstGeom prst="rect">
            <a:avLst/>
          </a:prstGeom>
          <a:noFill/>
          <a:ln/>
        </p:spPr>
        <p:txBody>
          <a:bodyPr wrap="square" lIns="254" tIns="254" rIns="254" bIns="254" rtlCol="0" anchor="ctr">
            <a:normAutofit/>
          </a:bodyPr>
          <a:lstStyle/>
          <a:p>
            <a:pPr algn="ctr" indent="0" marL="0">
              <a:buNone/>
            </a:pPr>
            <a:r>
              <a:rPr lang="en-US" sz="750" dirty="0">
                <a:solidFill>
                  <a:srgbClr val="667085"/>
                </a:solidFill>
              </a:rPr>
              <a:t>than the median baseline</a:t>
            </a:r>
            <a:endParaRPr lang="en-US" sz="750" dirty="0"/>
          </a:p>
        </p:txBody>
      </p:sp>
      <p:sp>
        <p:nvSpPr>
          <p:cNvPr id="13" name="Text 11"/>
          <p:cNvSpPr/>
          <p:nvPr/>
        </p:nvSpPr>
        <p:spPr>
          <a:xfrm>
            <a:off x="8823960" y="1828800"/>
            <a:ext cx="2286000" cy="384048"/>
          </a:xfrm>
          <a:prstGeom prst="rect">
            <a:avLst/>
          </a:prstGeom>
          <a:noFill/>
          <a:ln/>
        </p:spPr>
        <p:txBody>
          <a:bodyPr wrap="square" lIns="0" tIns="0" rIns="0" bIns="0" rtlCol="0" anchor="ctr"/>
          <a:lstStyle/>
          <a:p>
            <a:pPr algn="ctr" indent="0" marL="0">
              <a:buNone/>
            </a:pPr>
            <a:r>
              <a:rPr lang="en-US" sz="2400" b="1" dirty="0">
                <a:solidFill>
                  <a:srgbClr val="C43A31"/>
                </a:solidFill>
              </a:rPr>
              <a:t>85.4%</a:t>
            </a:r>
            <a:endParaRPr lang="en-US" sz="2400" dirty="0"/>
          </a:p>
        </p:txBody>
      </p:sp>
      <p:sp>
        <p:nvSpPr>
          <p:cNvPr id="14" name="Text 12"/>
          <p:cNvSpPr/>
          <p:nvPr/>
        </p:nvSpPr>
        <p:spPr>
          <a:xfrm>
            <a:off x="8823960" y="2267712"/>
            <a:ext cx="228600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of very high-severity claims</a:t>
            </a:r>
            <a:endParaRPr lang="en-US" sz="850" dirty="0"/>
          </a:p>
        </p:txBody>
      </p:sp>
      <p:sp>
        <p:nvSpPr>
          <p:cNvPr id="15" name="Text 13"/>
          <p:cNvSpPr/>
          <p:nvPr/>
        </p:nvSpPr>
        <p:spPr>
          <a:xfrm>
            <a:off x="8823960" y="2578608"/>
            <a:ext cx="2286000" cy="274320"/>
          </a:xfrm>
          <a:prstGeom prst="rect">
            <a:avLst/>
          </a:prstGeom>
          <a:noFill/>
          <a:ln/>
        </p:spPr>
        <p:txBody>
          <a:bodyPr wrap="square" lIns="254" tIns="254" rIns="254" bIns="254" rtlCol="0" anchor="ctr">
            <a:normAutofit/>
          </a:bodyPr>
          <a:lstStyle/>
          <a:p>
            <a:pPr algn="ctr" indent="0" marL="0">
              <a:buNone/>
            </a:pPr>
            <a:r>
              <a:rPr lang="en-US" sz="750" dirty="0">
                <a:solidFill>
                  <a:srgbClr val="667085"/>
                </a:solidFill>
              </a:rPr>
              <a:t>were underpredicted</a:t>
            </a:r>
            <a:endParaRPr lang="en-US" sz="750" dirty="0"/>
          </a:p>
        </p:txBody>
      </p:sp>
      <p:sp>
        <p:nvSpPr>
          <p:cNvPr id="16" name="Text 14"/>
          <p:cNvSpPr/>
          <p:nvPr/>
        </p:nvSpPr>
        <p:spPr>
          <a:xfrm>
            <a:off x="960120" y="4160520"/>
            <a:ext cx="2011680" cy="274320"/>
          </a:xfrm>
          <a:prstGeom prst="rect">
            <a:avLst/>
          </a:prstGeom>
          <a:noFill/>
          <a:ln/>
        </p:spPr>
        <p:txBody>
          <a:bodyPr wrap="square" lIns="0" tIns="0" rIns="0" bIns="0" rtlCol="0" anchor="ctr"/>
          <a:lstStyle/>
          <a:p>
            <a:pPr indent="0" marL="0">
              <a:buNone/>
            </a:pPr>
            <a:r>
              <a:rPr lang="en-US" sz="1300" b="1" dirty="0">
                <a:solidFill>
                  <a:srgbClr val="0B2341"/>
                </a:solidFill>
              </a:rPr>
              <a:t>Recommendation</a:t>
            </a:r>
            <a:endParaRPr lang="en-US" sz="1300" dirty="0"/>
          </a:p>
        </p:txBody>
      </p:sp>
      <p:sp>
        <p:nvSpPr>
          <p:cNvPr id="17" name="Text 15"/>
          <p:cNvSpPr/>
          <p:nvPr/>
        </p:nvSpPr>
        <p:spPr>
          <a:xfrm>
            <a:off x="960120" y="4526280"/>
            <a:ext cx="5029200" cy="457200"/>
          </a:xfrm>
          <a:prstGeom prst="rect">
            <a:avLst/>
          </a:prstGeom>
          <a:noFill/>
          <a:ln/>
        </p:spPr>
        <p:txBody>
          <a:bodyPr wrap="square" lIns="0" tIns="0" rIns="0" bIns="0" rtlCol="0" anchor="ctr"/>
          <a:lstStyle/>
          <a:p>
            <a:pPr indent="0" marL="0">
              <a:buNone/>
            </a:pPr>
            <a:r>
              <a:rPr lang="en-US" sz="1300" dirty="0">
                <a:solidFill>
                  <a:srgbClr val="1F2937"/>
                </a:solidFill>
              </a:rPr>
              <a:t>Validate the model on newer claims first. If the result holds, use the score to support claims staff review.</a:t>
            </a:r>
            <a:endParaRPr lang="en-US" sz="1300" dirty="0"/>
          </a:p>
        </p:txBody>
      </p:sp>
      <p:sp>
        <p:nvSpPr>
          <p:cNvPr id="18" name="Text 16"/>
          <p:cNvSpPr/>
          <p:nvPr/>
        </p:nvSpPr>
        <p:spPr>
          <a:xfrm>
            <a:off x="6720840" y="4160520"/>
            <a:ext cx="1828800" cy="274320"/>
          </a:xfrm>
          <a:prstGeom prst="rect">
            <a:avLst/>
          </a:prstGeom>
          <a:noFill/>
          <a:ln/>
        </p:spPr>
        <p:txBody>
          <a:bodyPr wrap="square" lIns="0" tIns="0" rIns="0" bIns="0" rtlCol="0" anchor="ctr"/>
          <a:lstStyle/>
          <a:p>
            <a:pPr indent="0" marL="0">
              <a:buNone/>
            </a:pPr>
            <a:r>
              <a:rPr lang="en-US" sz="1300" b="1" dirty="0">
                <a:solidFill>
                  <a:srgbClr val="C43A31"/>
                </a:solidFill>
              </a:rPr>
              <a:t>Keep off-limits</a:t>
            </a:r>
            <a:endParaRPr lang="en-US" sz="1300" dirty="0"/>
          </a:p>
        </p:txBody>
      </p:sp>
      <p:sp>
        <p:nvSpPr>
          <p:cNvPr id="19" name="Text 17"/>
          <p:cNvSpPr/>
          <p:nvPr/>
        </p:nvSpPr>
        <p:spPr>
          <a:xfrm>
            <a:off x="6720840" y="4526280"/>
            <a:ext cx="4297680" cy="457200"/>
          </a:xfrm>
          <a:prstGeom prst="rect">
            <a:avLst/>
          </a:prstGeom>
          <a:noFill/>
          <a:ln/>
        </p:spPr>
        <p:txBody>
          <a:bodyPr wrap="square" lIns="0" tIns="0" rIns="0" bIns="0" rtlCol="0" anchor="ctr"/>
          <a:lstStyle/>
          <a:p>
            <a:pPr indent="0" marL="0">
              <a:buNone/>
            </a:pPr>
            <a:r>
              <a:rPr lang="en-US" sz="1300" dirty="0">
                <a:solidFill>
                  <a:srgbClr val="1F2937"/>
                </a:solidFill>
              </a:rPr>
              <a:t>Do not use the prediction alone to set reserves, approve claims, settle claims, or assign adjusters.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4</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High-loss claims are the main reserve-risk concern.</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A typical claim does not show the full risk; the expensive tail matters most.</a:t>
            </a:r>
            <a:endParaRPr lang="en-US" sz="1150" dirty="0"/>
          </a:p>
        </p:txBody>
      </p:sp>
      <p:pic>
        <p:nvPicPr>
          <p:cNvPr id="7" name="Image 0" descr="/mnt/data/ppt_extract/ppt/media/image1.png">    </p:cNvPr>
          <p:cNvPicPr>
            <a:picLocks noChangeAspect="1"/>
          </p:cNvPicPr>
          <p:nvPr/>
        </p:nvPicPr>
        <p:blipFill>
          <a:blip r:embed="rId1"/>
          <a:stretch>
            <a:fillRect/>
          </a:stretch>
        </p:blipFill>
        <p:spPr>
          <a:xfrm>
            <a:off x="685800" y="1467514"/>
            <a:ext cx="6858000" cy="3008571"/>
          </a:xfrm>
          <a:prstGeom prst="rect">
            <a:avLst/>
          </a:prstGeom>
        </p:spPr>
      </p:pic>
      <p:sp>
        <p:nvSpPr>
          <p:cNvPr id="8" name="Shape 5"/>
          <p:cNvSpPr/>
          <p:nvPr/>
        </p:nvSpPr>
        <p:spPr>
          <a:xfrm>
            <a:off x="2132838" y="1764792"/>
            <a:ext cx="0" cy="2359152"/>
          </a:xfrm>
          <a:prstGeom prst="line">
            <a:avLst/>
          </a:prstGeom>
          <a:noFill/>
          <a:ln w="27940">
            <a:solidFill>
              <a:srgbClr val="C43A31"/>
            </a:solidFill>
            <a:prstDash val="solid"/>
          </a:ln>
        </p:spPr>
      </p:sp>
      <p:sp>
        <p:nvSpPr>
          <p:cNvPr id="9" name="Text 6"/>
          <p:cNvSpPr/>
          <p:nvPr/>
        </p:nvSpPr>
        <p:spPr>
          <a:xfrm>
            <a:off x="2955798" y="1161288"/>
            <a:ext cx="1417320" cy="201168"/>
          </a:xfrm>
          <a:prstGeom prst="rect">
            <a:avLst/>
          </a:prstGeom>
          <a:solidFill>
            <a:srgbClr val="FFFFFF">
              <a:alpha val="95000"/>
            </a:srgbClr>
          </a:solidFill>
          <a:ln/>
        </p:spPr>
        <p:txBody>
          <a:bodyPr wrap="square" lIns="254" tIns="254" rIns="254" bIns="254" rtlCol="0" anchor="ctr"/>
          <a:lstStyle/>
          <a:p>
            <a:pPr indent="0" marL="0">
              <a:buNone/>
            </a:pPr>
            <a:r>
              <a:rPr lang="en-US" sz="1200" b="1" dirty="0">
                <a:solidFill>
                  <a:srgbClr val="C43A31"/>
                </a:solidFill>
              </a:rPr>
              <a:t>$2,116 median</a:t>
            </a:r>
            <a:endParaRPr lang="en-US" sz="1200" dirty="0"/>
          </a:p>
        </p:txBody>
      </p:sp>
      <p:sp>
        <p:nvSpPr>
          <p:cNvPr id="10" name="Text 7"/>
          <p:cNvSpPr/>
          <p:nvPr/>
        </p:nvSpPr>
        <p:spPr>
          <a:xfrm>
            <a:off x="8412480" y="1600200"/>
            <a:ext cx="2286000" cy="384048"/>
          </a:xfrm>
          <a:prstGeom prst="rect">
            <a:avLst/>
          </a:prstGeom>
          <a:noFill/>
          <a:ln/>
        </p:spPr>
        <p:txBody>
          <a:bodyPr wrap="square" lIns="0" tIns="0" rIns="0" bIns="0" rtlCol="0" anchor="ctr"/>
          <a:lstStyle/>
          <a:p>
            <a:pPr algn="ctr" indent="0" marL="0">
              <a:buNone/>
            </a:pPr>
            <a:r>
              <a:rPr lang="en-US" sz="2400" b="1" dirty="0">
                <a:solidFill>
                  <a:srgbClr val="C43A31"/>
                </a:solidFill>
              </a:rPr>
              <a:t>$2,116</a:t>
            </a:r>
            <a:endParaRPr lang="en-US" sz="2400" dirty="0"/>
          </a:p>
        </p:txBody>
      </p:sp>
      <p:sp>
        <p:nvSpPr>
          <p:cNvPr id="11" name="Text 8"/>
          <p:cNvSpPr/>
          <p:nvPr/>
        </p:nvSpPr>
        <p:spPr>
          <a:xfrm>
            <a:off x="8412480" y="2039112"/>
            <a:ext cx="228600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median claim loss</a:t>
            </a:r>
            <a:endParaRPr lang="en-US" sz="850" dirty="0"/>
          </a:p>
        </p:txBody>
      </p:sp>
      <p:sp>
        <p:nvSpPr>
          <p:cNvPr id="12" name="Text 9"/>
          <p:cNvSpPr/>
          <p:nvPr/>
        </p:nvSpPr>
        <p:spPr>
          <a:xfrm>
            <a:off x="8412480" y="2788920"/>
            <a:ext cx="2286000" cy="384048"/>
          </a:xfrm>
          <a:prstGeom prst="rect">
            <a:avLst/>
          </a:prstGeom>
          <a:noFill/>
          <a:ln/>
        </p:spPr>
        <p:txBody>
          <a:bodyPr wrap="square" lIns="0" tIns="0" rIns="0" bIns="0" rtlCol="0" anchor="ctr"/>
          <a:lstStyle/>
          <a:p>
            <a:pPr algn="ctr" indent="0" marL="0">
              <a:buNone/>
            </a:pPr>
            <a:r>
              <a:rPr lang="en-US" sz="2400" b="1" dirty="0">
                <a:solidFill>
                  <a:srgbClr val="F47C20"/>
                </a:solidFill>
              </a:rPr>
              <a:t>$6,402</a:t>
            </a:r>
            <a:endParaRPr lang="en-US" sz="2400" dirty="0"/>
          </a:p>
        </p:txBody>
      </p:sp>
      <p:sp>
        <p:nvSpPr>
          <p:cNvPr id="13" name="Text 10"/>
          <p:cNvSpPr/>
          <p:nvPr/>
        </p:nvSpPr>
        <p:spPr>
          <a:xfrm>
            <a:off x="8412480" y="3227832"/>
            <a:ext cx="228600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90th percentile claim loss</a:t>
            </a:r>
            <a:endParaRPr lang="en-US" sz="850" dirty="0"/>
          </a:p>
        </p:txBody>
      </p:sp>
      <p:sp>
        <p:nvSpPr>
          <p:cNvPr id="14" name="Text 11"/>
          <p:cNvSpPr/>
          <p:nvPr/>
        </p:nvSpPr>
        <p:spPr>
          <a:xfrm>
            <a:off x="8001000" y="4572000"/>
            <a:ext cx="2926080" cy="228600"/>
          </a:xfrm>
          <a:prstGeom prst="rect">
            <a:avLst/>
          </a:prstGeom>
          <a:noFill/>
          <a:ln/>
        </p:spPr>
        <p:txBody>
          <a:bodyPr wrap="square" lIns="0" tIns="0" rIns="0" bIns="0" rtlCol="0" anchor="ctr"/>
          <a:lstStyle/>
          <a:p>
            <a:pPr indent="0" marL="0">
              <a:buNone/>
            </a:pPr>
            <a:r>
              <a:rPr lang="en-US" sz="1250" b="1" dirty="0">
                <a:solidFill>
                  <a:srgbClr val="0B2341"/>
                </a:solidFill>
              </a:rPr>
              <a:t>Business meaning</a:t>
            </a:r>
            <a:endParaRPr lang="en-US" sz="1250" dirty="0"/>
          </a:p>
        </p:txBody>
      </p:sp>
      <p:sp>
        <p:nvSpPr>
          <p:cNvPr id="15" name="Text 12"/>
          <p:cNvSpPr/>
          <p:nvPr/>
        </p:nvSpPr>
        <p:spPr>
          <a:xfrm>
            <a:off x="8001000" y="4873752"/>
            <a:ext cx="3200400" cy="548640"/>
          </a:xfrm>
          <a:prstGeom prst="rect">
            <a:avLst/>
          </a:prstGeom>
          <a:noFill/>
          <a:ln/>
        </p:spPr>
        <p:txBody>
          <a:bodyPr wrap="square" lIns="0" tIns="0" rIns="0" bIns="0" rtlCol="0" anchor="ctr">
            <a:normAutofit/>
          </a:bodyPr>
          <a:lstStyle/>
          <a:p>
            <a:pPr indent="0" marL="0">
              <a:buNone/>
            </a:pPr>
            <a:r>
              <a:rPr lang="en-US" sz="1300" dirty="0">
                <a:solidFill>
                  <a:srgbClr val="1F2937"/>
                </a:solidFill>
              </a:rPr>
              <a:t>Reserve review should focus on the claims most likely to land in the high-cost tail.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5</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The right use is prioritization, not full claims automation.</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I limited the conclusion to what this anonymized dataset can support.</a:t>
            </a:r>
            <a:endParaRPr lang="en-US" sz="1150" dirty="0"/>
          </a:p>
        </p:txBody>
      </p:sp>
      <p:sp>
        <p:nvSpPr>
          <p:cNvPr id="7" name="Text 5"/>
          <p:cNvSpPr/>
          <p:nvPr/>
        </p:nvSpPr>
        <p:spPr>
          <a:xfrm>
            <a:off x="868680" y="1600200"/>
            <a:ext cx="2011680" cy="274320"/>
          </a:xfrm>
          <a:prstGeom prst="rect">
            <a:avLst/>
          </a:prstGeom>
          <a:noFill/>
          <a:ln/>
        </p:spPr>
        <p:txBody>
          <a:bodyPr wrap="square" lIns="0" tIns="0" rIns="0" bIns="0" rtlCol="0" anchor="ctr"/>
          <a:lstStyle/>
          <a:p>
            <a:pPr indent="0" marL="0">
              <a:buNone/>
            </a:pPr>
            <a:r>
              <a:rPr lang="en-US" sz="1400" b="1" dirty="0">
                <a:solidFill>
                  <a:srgbClr val="5C9A6A"/>
                </a:solidFill>
              </a:rPr>
              <a:t>Can support</a:t>
            </a:r>
            <a:endParaRPr lang="en-US" sz="1400" dirty="0"/>
          </a:p>
        </p:txBody>
      </p:sp>
      <p:sp>
        <p:nvSpPr>
          <p:cNvPr id="8" name="Text 6"/>
          <p:cNvSpPr/>
          <p:nvPr/>
        </p:nvSpPr>
        <p:spPr>
          <a:xfrm>
            <a:off x="868680" y="1984248"/>
            <a:ext cx="3840480" cy="1005840"/>
          </a:xfrm>
          <a:prstGeom prst="rect">
            <a:avLst/>
          </a:prstGeom>
          <a:noFill/>
          <a:ln/>
        </p:spPr>
        <p:txBody>
          <a:bodyPr wrap="square" lIns="254" tIns="254" rIns="254" bIns="254" rtlCol="0" anchor="ctr">
            <a:normAutofit/>
          </a:bodyPr>
          <a:lstStyle/>
          <a:p>
            <a:pPr indent="0" marL="0">
              <a:buNone/>
            </a:pPr>
            <a:r>
              <a:rPr lang="en-US" sz="1400" dirty="0">
                <a:solidFill>
                  <a:srgbClr val="1F2937"/>
                </a:solidFill>
              </a:rPr>
              <a:t>• Predicting final claim loss</a:t>
            </a:r>
            <a:endParaRPr lang="en-US" sz="1400" dirty="0"/>
          </a:p>
          <a:p>
            <a:pPr indent="0" marL="0">
              <a:buNone/>
            </a:pPr>
            <a:r>
              <a:rPr lang="en-US" sz="1400" dirty="0">
                <a:solidFill>
                  <a:srgbClr val="1F2937"/>
                </a:solidFill>
              </a:rPr>
              <a:t>• Ranking claims by expected cost</a:t>
            </a:r>
            <a:endParaRPr lang="en-US" sz="1400" dirty="0"/>
          </a:p>
          <a:p>
            <a:pPr indent="0" marL="0">
              <a:buNone/>
            </a:pPr>
            <a:r>
              <a:rPr lang="en-US" sz="1400" dirty="0">
                <a:solidFill>
                  <a:srgbClr val="1F2937"/>
                </a:solidFill>
              </a:rPr>
              <a:t>• Building a queue for earlier human review</a:t>
            </a:r>
            <a:endParaRPr lang="en-US" sz="1400" dirty="0"/>
          </a:p>
        </p:txBody>
      </p:sp>
      <p:sp>
        <p:nvSpPr>
          <p:cNvPr id="9" name="Text 7"/>
          <p:cNvSpPr/>
          <p:nvPr/>
        </p:nvSpPr>
        <p:spPr>
          <a:xfrm>
            <a:off x="6217920" y="1600200"/>
            <a:ext cx="2926080" cy="274320"/>
          </a:xfrm>
          <a:prstGeom prst="rect">
            <a:avLst/>
          </a:prstGeom>
          <a:noFill/>
          <a:ln/>
        </p:spPr>
        <p:txBody>
          <a:bodyPr wrap="square" lIns="0" tIns="0" rIns="0" bIns="0" rtlCol="0" anchor="ctr"/>
          <a:lstStyle/>
          <a:p>
            <a:pPr indent="0" marL="0">
              <a:buNone/>
            </a:pPr>
            <a:r>
              <a:rPr lang="en-US" sz="1400" b="1" dirty="0">
                <a:solidFill>
                  <a:srgbClr val="C43A31"/>
                </a:solidFill>
              </a:rPr>
              <a:t>Keep human-controlled</a:t>
            </a:r>
            <a:endParaRPr lang="en-US" sz="1400" dirty="0"/>
          </a:p>
        </p:txBody>
      </p:sp>
      <p:sp>
        <p:nvSpPr>
          <p:cNvPr id="10" name="Text 8"/>
          <p:cNvSpPr/>
          <p:nvPr/>
        </p:nvSpPr>
        <p:spPr>
          <a:xfrm>
            <a:off x="6217920" y="1984248"/>
            <a:ext cx="4389120" cy="1005840"/>
          </a:xfrm>
          <a:prstGeom prst="rect">
            <a:avLst/>
          </a:prstGeom>
          <a:noFill/>
          <a:ln/>
        </p:spPr>
        <p:txBody>
          <a:bodyPr wrap="square" lIns="254" tIns="254" rIns="254" bIns="254" rtlCol="0" anchor="ctr">
            <a:normAutofit/>
          </a:bodyPr>
          <a:lstStyle/>
          <a:p>
            <a:pPr indent="0" marL="0">
              <a:buNone/>
            </a:pPr>
            <a:r>
              <a:rPr lang="en-US" sz="1400" dirty="0">
                <a:solidFill>
                  <a:srgbClr val="1F2937"/>
                </a:solidFill>
              </a:rPr>
              <a:t>• Final reserve amount</a:t>
            </a:r>
            <a:endParaRPr lang="en-US" sz="1400" dirty="0"/>
          </a:p>
          <a:p>
            <a:pPr indent="0" marL="0">
              <a:buNone/>
            </a:pPr>
            <a:r>
              <a:rPr lang="en-US" sz="1400" dirty="0">
                <a:solidFill>
                  <a:srgbClr val="1F2937"/>
                </a:solidFill>
              </a:rPr>
              <a:t>• Adjuster assignment</a:t>
            </a:r>
            <a:endParaRPr lang="en-US" sz="1400" dirty="0"/>
          </a:p>
          <a:p>
            <a:pPr indent="0" marL="0">
              <a:buNone/>
            </a:pPr>
            <a:r>
              <a:rPr lang="en-US" sz="1400" dirty="0">
                <a:solidFill>
                  <a:srgbClr val="1F2937"/>
                </a:solidFill>
              </a:rPr>
              <a:t>• Approval, settlement, or claim outcome decisions</a:t>
            </a:r>
            <a:endParaRPr lang="en-US" sz="1400" dirty="0"/>
          </a:p>
        </p:txBody>
      </p:sp>
      <p:sp>
        <p:nvSpPr>
          <p:cNvPr id="11" name="Text 9"/>
          <p:cNvSpPr/>
          <p:nvPr/>
        </p:nvSpPr>
        <p:spPr>
          <a:xfrm>
            <a:off x="868680" y="4315968"/>
            <a:ext cx="1463040" cy="274320"/>
          </a:xfrm>
          <a:prstGeom prst="rect">
            <a:avLst/>
          </a:prstGeom>
          <a:noFill/>
          <a:ln/>
        </p:spPr>
        <p:txBody>
          <a:bodyPr wrap="square" lIns="0" tIns="0" rIns="0" bIns="0" rtlCol="0" anchor="ctr"/>
          <a:lstStyle/>
          <a:p>
            <a:pPr indent="0" marL="0">
              <a:buNone/>
            </a:pPr>
            <a:r>
              <a:rPr lang="en-US" sz="1400" b="1" dirty="0">
                <a:solidFill>
                  <a:srgbClr val="0B2341"/>
                </a:solidFill>
              </a:rPr>
              <a:t>Practical claim</a:t>
            </a:r>
            <a:endParaRPr lang="en-US" sz="1400" dirty="0"/>
          </a:p>
        </p:txBody>
      </p:sp>
      <p:sp>
        <p:nvSpPr>
          <p:cNvPr id="12" name="Text 10"/>
          <p:cNvSpPr/>
          <p:nvPr/>
        </p:nvSpPr>
        <p:spPr>
          <a:xfrm>
            <a:off x="2423160" y="4279392"/>
            <a:ext cx="7772400" cy="365760"/>
          </a:xfrm>
          <a:prstGeom prst="rect">
            <a:avLst/>
          </a:prstGeom>
          <a:noFill/>
          <a:ln/>
        </p:spPr>
        <p:txBody>
          <a:bodyPr wrap="square" lIns="0" tIns="0" rIns="0" bIns="0" rtlCol="0" anchor="ctr"/>
          <a:lstStyle/>
          <a:p>
            <a:pPr indent="0" marL="0">
              <a:buNone/>
            </a:pPr>
            <a:r>
              <a:rPr lang="en-US" sz="1500" b="1" dirty="0">
                <a:solidFill>
                  <a:srgbClr val="0B2341"/>
                </a:solidFill>
              </a:rPr>
              <a:t>Use the model as an extra review signal, not as a replacement for claims expertise.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6</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I tested the model on claims it did not train on.</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The reported results come from the held-out validation set.</a:t>
            </a:r>
            <a:endParaRPr lang="en-US" sz="1150" dirty="0"/>
          </a:p>
        </p:txBody>
      </p:sp>
      <p:sp>
        <p:nvSpPr>
          <p:cNvPr id="7" name="Text 5"/>
          <p:cNvSpPr/>
          <p:nvPr/>
        </p:nvSpPr>
        <p:spPr>
          <a:xfrm>
            <a:off x="685800" y="1691640"/>
            <a:ext cx="2743200" cy="777240"/>
          </a:xfrm>
          <a:prstGeom prst="rect">
            <a:avLst/>
          </a:prstGeom>
          <a:solidFill>
            <a:srgbClr val="EAF2F8"/>
          </a:solidFill>
          <a:ln>
            <a:solidFill>
              <a:srgbClr val="EAF2F8">
                <a:alpha val="0"/>
              </a:srgbClr>
            </a:solidFill>
          </a:ln>
        </p:spPr>
        <p:txBody>
          <a:bodyPr wrap="square" lIns="762" tIns="762" rIns="762" bIns="762" rtlCol="0" anchor="ctr">
            <a:normAutofit/>
          </a:bodyPr>
          <a:lstStyle/>
          <a:p>
            <a:pPr algn="ctr" indent="0" marL="0">
              <a:buNone/>
            </a:pPr>
            <a:r>
              <a:rPr lang="en-US" sz="1100" b="1" dirty="0">
                <a:solidFill>
                  <a:srgbClr val="0B2341"/>
                </a:solidFill>
              </a:rPr>
              <a:t>188,318 total claims</a:t>
            </a:r>
            <a:endParaRPr lang="en-US" sz="1100" dirty="0"/>
          </a:p>
          <a:p>
            <a:pPr algn="ctr" indent="0" marL="0">
              <a:buNone/>
            </a:pPr>
            <a:r>
              <a:rPr lang="en-US" sz="1100" b="1" dirty="0">
                <a:solidFill>
                  <a:srgbClr val="0B2341"/>
                </a:solidFill>
              </a:rPr>
              <a:t>Allstate historical data</a:t>
            </a:r>
            <a:endParaRPr lang="en-US" sz="1100" dirty="0"/>
          </a:p>
        </p:txBody>
      </p:sp>
      <p:sp>
        <p:nvSpPr>
          <p:cNvPr id="8" name="Shape 6"/>
          <p:cNvSpPr/>
          <p:nvPr/>
        </p:nvSpPr>
        <p:spPr>
          <a:xfrm>
            <a:off x="3611880" y="2075688"/>
            <a:ext cx="457200" cy="0"/>
          </a:xfrm>
          <a:prstGeom prst="line">
            <a:avLst/>
          </a:prstGeom>
          <a:noFill/>
          <a:ln w="20320">
            <a:solidFill>
              <a:srgbClr val="F47C20"/>
            </a:solidFill>
            <a:prstDash val="solid"/>
            <a:headEnd type="none"/>
            <a:tailEnd type="triangle"/>
          </a:ln>
        </p:spPr>
      </p:sp>
      <p:sp>
        <p:nvSpPr>
          <p:cNvPr id="9" name="Text 7"/>
          <p:cNvSpPr/>
          <p:nvPr/>
        </p:nvSpPr>
        <p:spPr>
          <a:xfrm>
            <a:off x="4251960" y="1691640"/>
            <a:ext cx="2743200" cy="777240"/>
          </a:xfrm>
          <a:prstGeom prst="rect">
            <a:avLst/>
          </a:prstGeom>
          <a:solidFill>
            <a:srgbClr val="FFFFFF"/>
          </a:solidFill>
          <a:ln>
            <a:solidFill>
              <a:srgbClr val="FFFFFF">
                <a:alpha val="0"/>
              </a:srgbClr>
            </a:solidFill>
          </a:ln>
        </p:spPr>
        <p:txBody>
          <a:bodyPr wrap="square" lIns="762" tIns="762" rIns="762" bIns="762" rtlCol="0" anchor="ctr">
            <a:normAutofit/>
          </a:bodyPr>
          <a:lstStyle/>
          <a:p>
            <a:pPr algn="ctr" indent="0" marL="0">
              <a:buNone/>
            </a:pPr>
            <a:r>
              <a:rPr lang="en-US" sz="1100" b="1" dirty="0">
                <a:solidFill>
                  <a:srgbClr val="0B2341"/>
                </a:solidFill>
              </a:rPr>
              <a:t>150,654 development claims</a:t>
            </a:r>
            <a:endParaRPr lang="en-US" sz="1100" dirty="0"/>
          </a:p>
          <a:p>
            <a:pPr algn="ctr" indent="0" marL="0">
              <a:buNone/>
            </a:pPr>
            <a:r>
              <a:rPr lang="en-US" sz="1100" b="1" dirty="0">
                <a:solidFill>
                  <a:srgbClr val="0B2341"/>
                </a:solidFill>
              </a:rPr>
              <a:t>Used to build the model</a:t>
            </a:r>
            <a:endParaRPr lang="en-US" sz="1100" dirty="0"/>
          </a:p>
        </p:txBody>
      </p:sp>
      <p:sp>
        <p:nvSpPr>
          <p:cNvPr id="10" name="Shape 8"/>
          <p:cNvSpPr/>
          <p:nvPr/>
        </p:nvSpPr>
        <p:spPr>
          <a:xfrm>
            <a:off x="7178040" y="2075688"/>
            <a:ext cx="457200" cy="0"/>
          </a:xfrm>
          <a:prstGeom prst="line">
            <a:avLst/>
          </a:prstGeom>
          <a:noFill/>
          <a:ln w="20320">
            <a:solidFill>
              <a:srgbClr val="F47C20"/>
            </a:solidFill>
            <a:prstDash val="solid"/>
            <a:headEnd type="none"/>
            <a:tailEnd type="triangle"/>
          </a:ln>
        </p:spPr>
      </p:sp>
      <p:sp>
        <p:nvSpPr>
          <p:cNvPr id="11" name="Text 9"/>
          <p:cNvSpPr/>
          <p:nvPr/>
        </p:nvSpPr>
        <p:spPr>
          <a:xfrm>
            <a:off x="7818120" y="1691640"/>
            <a:ext cx="2743200" cy="777240"/>
          </a:xfrm>
          <a:prstGeom prst="rect">
            <a:avLst/>
          </a:prstGeom>
          <a:solidFill>
            <a:srgbClr val="FFF1E6"/>
          </a:solidFill>
          <a:ln>
            <a:solidFill>
              <a:srgbClr val="FFF1E6">
                <a:alpha val="0"/>
              </a:srgbClr>
            </a:solidFill>
          </a:ln>
        </p:spPr>
        <p:txBody>
          <a:bodyPr wrap="square" lIns="762" tIns="762" rIns="762" bIns="762" rtlCol="0" anchor="ctr">
            <a:normAutofit/>
          </a:bodyPr>
          <a:lstStyle/>
          <a:p>
            <a:pPr algn="ctr" indent="0" marL="0">
              <a:buNone/>
            </a:pPr>
            <a:r>
              <a:rPr lang="en-US" sz="1100" b="1" dirty="0">
                <a:solidFill>
                  <a:srgbClr val="0B2341"/>
                </a:solidFill>
              </a:rPr>
              <a:t>37,664 validation claims</a:t>
            </a:r>
            <a:endParaRPr lang="en-US" sz="1100" dirty="0"/>
          </a:p>
          <a:p>
            <a:pPr algn="ctr" indent="0" marL="0">
              <a:buNone/>
            </a:pPr>
            <a:r>
              <a:rPr lang="en-US" sz="1100" b="1" dirty="0">
                <a:solidFill>
                  <a:srgbClr val="0B2341"/>
                </a:solidFill>
              </a:rPr>
              <a:t>Held out for final testing</a:t>
            </a:r>
            <a:endParaRPr lang="en-US" sz="1100" dirty="0"/>
          </a:p>
        </p:txBody>
      </p:sp>
      <p:sp>
        <p:nvSpPr>
          <p:cNvPr id="12" name="Text 10"/>
          <p:cNvSpPr/>
          <p:nvPr/>
        </p:nvSpPr>
        <p:spPr>
          <a:xfrm>
            <a:off x="868680" y="3977640"/>
            <a:ext cx="1920240" cy="274320"/>
          </a:xfrm>
          <a:prstGeom prst="rect">
            <a:avLst/>
          </a:prstGeom>
          <a:noFill/>
          <a:ln/>
        </p:spPr>
        <p:txBody>
          <a:bodyPr wrap="square" lIns="0" tIns="0" rIns="0" bIns="0" rtlCol="0" anchor="ctr"/>
          <a:lstStyle/>
          <a:p>
            <a:pPr indent="0" marL="0">
              <a:buNone/>
            </a:pPr>
            <a:r>
              <a:rPr lang="en-US" sz="1300" b="1" dirty="0">
                <a:solidFill>
                  <a:srgbClr val="0B2341"/>
                </a:solidFill>
              </a:rPr>
              <a:t>Selected model</a:t>
            </a:r>
            <a:endParaRPr lang="en-US" sz="1300" dirty="0"/>
          </a:p>
        </p:txBody>
      </p:sp>
      <p:sp>
        <p:nvSpPr>
          <p:cNvPr id="13" name="Text 11"/>
          <p:cNvSpPr/>
          <p:nvPr/>
        </p:nvSpPr>
        <p:spPr>
          <a:xfrm>
            <a:off x="868680" y="4343400"/>
            <a:ext cx="4572000" cy="548640"/>
          </a:xfrm>
          <a:prstGeom prst="rect">
            <a:avLst/>
          </a:prstGeom>
          <a:noFill/>
          <a:ln/>
        </p:spPr>
        <p:txBody>
          <a:bodyPr wrap="square" lIns="0" tIns="0" rIns="0" bIns="0" rtlCol="0" anchor="ctr">
            <a:normAutofit/>
          </a:bodyPr>
          <a:lstStyle/>
          <a:p>
            <a:pPr indent="0" marL="0">
              <a:buNone/>
            </a:pPr>
            <a:r>
              <a:rPr lang="en-US" sz="1350" dirty="0">
                <a:solidFill>
                  <a:srgbClr val="1F2937"/>
                </a:solidFill>
              </a:rPr>
              <a:t>Ridge regression with log-transformed loss and leakage-controlled target encoding.</a:t>
            </a:r>
            <a:endParaRPr lang="en-US" sz="1350" dirty="0"/>
          </a:p>
        </p:txBody>
      </p:sp>
      <p:sp>
        <p:nvSpPr>
          <p:cNvPr id="14" name="Text 12"/>
          <p:cNvSpPr/>
          <p:nvPr/>
        </p:nvSpPr>
        <p:spPr>
          <a:xfrm>
            <a:off x="6446520" y="3977640"/>
            <a:ext cx="2468880" cy="274320"/>
          </a:xfrm>
          <a:prstGeom prst="rect">
            <a:avLst/>
          </a:prstGeom>
          <a:noFill/>
          <a:ln/>
        </p:spPr>
        <p:txBody>
          <a:bodyPr wrap="square" lIns="0" tIns="0" rIns="0" bIns="0" rtlCol="0" anchor="ctr"/>
          <a:lstStyle/>
          <a:p>
            <a:pPr indent="0" marL="0">
              <a:buNone/>
            </a:pPr>
            <a:r>
              <a:rPr lang="en-US" sz="1300" b="1" dirty="0">
                <a:solidFill>
                  <a:srgbClr val="0B2341"/>
                </a:solidFill>
              </a:rPr>
              <a:t>Plain-English version</a:t>
            </a:r>
            <a:endParaRPr lang="en-US" sz="1300" dirty="0"/>
          </a:p>
        </p:txBody>
      </p:sp>
      <p:sp>
        <p:nvSpPr>
          <p:cNvPr id="15" name="Text 13"/>
          <p:cNvSpPr/>
          <p:nvPr/>
        </p:nvSpPr>
        <p:spPr>
          <a:xfrm>
            <a:off x="6446520" y="4343400"/>
            <a:ext cx="4389120" cy="548640"/>
          </a:xfrm>
          <a:prstGeom prst="rect">
            <a:avLst/>
          </a:prstGeom>
          <a:noFill/>
          <a:ln/>
        </p:spPr>
        <p:txBody>
          <a:bodyPr wrap="square" lIns="0" tIns="0" rIns="0" bIns="0" rtlCol="0" anchor="ctr">
            <a:normAutofit/>
          </a:bodyPr>
          <a:lstStyle/>
          <a:p>
            <a:pPr indent="0" marL="0">
              <a:buNone/>
            </a:pPr>
            <a:r>
              <a:rPr lang="en-US" sz="1350" dirty="0">
                <a:solidFill>
                  <a:srgbClr val="1F2937"/>
                </a:solidFill>
              </a:rPr>
              <a:t>A stable model that compares patterns across similar claims without letting the answer leak into training.</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7</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The selected model reduced average error by 30.2%.</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That shows the claim features contain useful signal.</a:t>
            </a:r>
            <a:endParaRPr lang="en-US" sz="1150" dirty="0"/>
          </a:p>
        </p:txBody>
      </p:sp>
      <p:sp>
        <p:nvSpPr>
          <p:cNvPr id="7" name="Text 5"/>
          <p:cNvSpPr/>
          <p:nvPr/>
        </p:nvSpPr>
        <p:spPr>
          <a:xfrm>
            <a:off x="914400" y="1444752"/>
            <a:ext cx="3200400" cy="228600"/>
          </a:xfrm>
          <a:prstGeom prst="rect">
            <a:avLst/>
          </a:prstGeom>
          <a:noFill/>
          <a:ln/>
        </p:spPr>
        <p:txBody>
          <a:bodyPr wrap="square" lIns="0" tIns="0" rIns="0" bIns="0" rtlCol="0" anchor="ctr"/>
          <a:lstStyle/>
          <a:p>
            <a:pPr indent="0" marL="0">
              <a:buNone/>
            </a:pPr>
            <a:r>
              <a:rPr lang="en-US" sz="1100" b="1" dirty="0">
                <a:solidFill>
                  <a:srgbClr val="0B2341"/>
                </a:solidFill>
              </a:rPr>
              <a:t>Validation MAE, lower is better</a:t>
            </a:r>
            <a:endParaRPr lang="en-US" sz="1100" dirty="0"/>
          </a:p>
        </p:txBody>
      </p:sp>
      <p:sp>
        <p:nvSpPr>
          <p:cNvPr id="8" name="Text 6"/>
          <p:cNvSpPr/>
          <p:nvPr/>
        </p:nvSpPr>
        <p:spPr>
          <a:xfrm>
            <a:off x="914400" y="2057400"/>
            <a:ext cx="1554480" cy="228600"/>
          </a:xfrm>
          <a:prstGeom prst="rect">
            <a:avLst/>
          </a:prstGeom>
          <a:noFill/>
          <a:ln/>
        </p:spPr>
        <p:txBody>
          <a:bodyPr wrap="square" lIns="0" tIns="0" rIns="0" bIns="0" rtlCol="0" anchor="ctr"/>
          <a:lstStyle/>
          <a:p>
            <a:pPr indent="0" marL="0">
              <a:buNone/>
            </a:pPr>
            <a:r>
              <a:rPr lang="en-US" sz="1200" dirty="0">
                <a:solidFill>
                  <a:srgbClr val="1F2937"/>
                </a:solidFill>
              </a:rPr>
              <a:t>Selected model</a:t>
            </a:r>
            <a:endParaRPr lang="en-US" sz="1200" dirty="0"/>
          </a:p>
        </p:txBody>
      </p:sp>
      <p:sp>
        <p:nvSpPr>
          <p:cNvPr id="9" name="Shape 7"/>
          <p:cNvSpPr/>
          <p:nvPr/>
        </p:nvSpPr>
        <p:spPr>
          <a:xfrm>
            <a:off x="2926080" y="2029968"/>
            <a:ext cx="3248863" cy="320040"/>
          </a:xfrm>
          <a:prstGeom prst="rect">
            <a:avLst/>
          </a:prstGeom>
          <a:solidFill>
            <a:srgbClr val="F47C20"/>
          </a:solidFill>
          <a:ln w="12700">
            <a:solidFill>
              <a:srgbClr val="333333">
                <a:alpha val="0"/>
              </a:srgbClr>
            </a:solidFill>
            <a:prstDash val="solid"/>
          </a:ln>
        </p:spPr>
      </p:sp>
      <p:sp>
        <p:nvSpPr>
          <p:cNvPr id="10" name="Text 8"/>
          <p:cNvSpPr/>
          <p:nvPr/>
        </p:nvSpPr>
        <p:spPr>
          <a:xfrm>
            <a:off x="6312103" y="2029968"/>
            <a:ext cx="731520" cy="320040"/>
          </a:xfrm>
          <a:prstGeom prst="rect">
            <a:avLst/>
          </a:prstGeom>
          <a:noFill/>
          <a:ln/>
        </p:spPr>
        <p:txBody>
          <a:bodyPr wrap="square" lIns="0" tIns="0" rIns="0" bIns="0" rtlCol="0" anchor="ctr"/>
          <a:lstStyle/>
          <a:p>
            <a:pPr indent="0" marL="0">
              <a:buNone/>
            </a:pPr>
            <a:r>
              <a:rPr lang="en-US" sz="1100" dirty="0">
                <a:solidFill>
                  <a:srgbClr val="1F2937"/>
                </a:solidFill>
              </a:rPr>
              <a:t>$1,254</a:t>
            </a:r>
            <a:endParaRPr lang="en-US" sz="1100" dirty="0"/>
          </a:p>
        </p:txBody>
      </p:sp>
      <p:sp>
        <p:nvSpPr>
          <p:cNvPr id="11" name="Text 9"/>
          <p:cNvSpPr/>
          <p:nvPr/>
        </p:nvSpPr>
        <p:spPr>
          <a:xfrm>
            <a:off x="914400" y="3017520"/>
            <a:ext cx="1737360" cy="228600"/>
          </a:xfrm>
          <a:prstGeom prst="rect">
            <a:avLst/>
          </a:prstGeom>
          <a:noFill/>
          <a:ln/>
        </p:spPr>
        <p:txBody>
          <a:bodyPr wrap="square" lIns="0" tIns="0" rIns="0" bIns="0" rtlCol="0" anchor="ctr"/>
          <a:lstStyle/>
          <a:p>
            <a:pPr indent="0" marL="0">
              <a:buNone/>
            </a:pPr>
            <a:r>
              <a:rPr lang="en-US" sz="1200" dirty="0">
                <a:solidFill>
                  <a:srgbClr val="1F2937"/>
                </a:solidFill>
              </a:rPr>
              <a:t>Median baseline</a:t>
            </a:r>
            <a:endParaRPr lang="en-US" sz="1200" dirty="0"/>
          </a:p>
        </p:txBody>
      </p:sp>
      <p:sp>
        <p:nvSpPr>
          <p:cNvPr id="12" name="Shape 10"/>
          <p:cNvSpPr/>
          <p:nvPr/>
        </p:nvSpPr>
        <p:spPr>
          <a:xfrm>
            <a:off x="2926080" y="2990088"/>
            <a:ext cx="4653077" cy="320040"/>
          </a:xfrm>
          <a:prstGeom prst="rect">
            <a:avLst/>
          </a:prstGeom>
          <a:solidFill>
            <a:srgbClr val="2A6389"/>
          </a:solidFill>
          <a:ln w="12700">
            <a:solidFill>
              <a:srgbClr val="333333">
                <a:alpha val="0"/>
              </a:srgbClr>
            </a:solidFill>
            <a:prstDash val="solid"/>
          </a:ln>
        </p:spPr>
      </p:sp>
      <p:sp>
        <p:nvSpPr>
          <p:cNvPr id="13" name="Text 11"/>
          <p:cNvSpPr/>
          <p:nvPr/>
        </p:nvSpPr>
        <p:spPr>
          <a:xfrm>
            <a:off x="7716317" y="2990088"/>
            <a:ext cx="731520" cy="320040"/>
          </a:xfrm>
          <a:prstGeom prst="rect">
            <a:avLst/>
          </a:prstGeom>
          <a:noFill/>
          <a:ln/>
        </p:spPr>
        <p:txBody>
          <a:bodyPr wrap="square" lIns="0" tIns="0" rIns="0" bIns="0" rtlCol="0" anchor="ctr"/>
          <a:lstStyle/>
          <a:p>
            <a:pPr indent="0" marL="0">
              <a:buNone/>
            </a:pPr>
            <a:r>
              <a:rPr lang="en-US" sz="1100" dirty="0">
                <a:solidFill>
                  <a:srgbClr val="1F2937"/>
                </a:solidFill>
              </a:rPr>
              <a:t>$1,796</a:t>
            </a:r>
            <a:endParaRPr lang="en-US" sz="1100" dirty="0"/>
          </a:p>
        </p:txBody>
      </p:sp>
      <p:sp>
        <p:nvSpPr>
          <p:cNvPr id="14" name="Text 12"/>
          <p:cNvSpPr/>
          <p:nvPr/>
        </p:nvSpPr>
        <p:spPr>
          <a:xfrm>
            <a:off x="8503920" y="1874520"/>
            <a:ext cx="2286000" cy="384048"/>
          </a:xfrm>
          <a:prstGeom prst="rect">
            <a:avLst/>
          </a:prstGeom>
          <a:noFill/>
          <a:ln/>
        </p:spPr>
        <p:txBody>
          <a:bodyPr wrap="square" lIns="0" tIns="0" rIns="0" bIns="0" rtlCol="0" anchor="ctr"/>
          <a:lstStyle/>
          <a:p>
            <a:pPr algn="ctr" indent="0" marL="0">
              <a:buNone/>
            </a:pPr>
            <a:r>
              <a:rPr lang="en-US" sz="2400" b="1" dirty="0">
                <a:solidFill>
                  <a:srgbClr val="F47C20"/>
                </a:solidFill>
              </a:rPr>
              <a:t>30.2%</a:t>
            </a:r>
            <a:endParaRPr lang="en-US" sz="2400" dirty="0"/>
          </a:p>
        </p:txBody>
      </p:sp>
      <p:sp>
        <p:nvSpPr>
          <p:cNvPr id="15" name="Text 13"/>
          <p:cNvSpPr/>
          <p:nvPr/>
        </p:nvSpPr>
        <p:spPr>
          <a:xfrm>
            <a:off x="8503920" y="2313432"/>
            <a:ext cx="228600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improvement over the strongest constant baseline</a:t>
            </a:r>
            <a:endParaRPr lang="en-US" sz="850" dirty="0"/>
          </a:p>
        </p:txBody>
      </p:sp>
      <p:sp>
        <p:nvSpPr>
          <p:cNvPr id="16" name="Text 14"/>
          <p:cNvSpPr/>
          <p:nvPr/>
        </p:nvSpPr>
        <p:spPr>
          <a:xfrm>
            <a:off x="7040880" y="4315968"/>
            <a:ext cx="1828800" cy="274320"/>
          </a:xfrm>
          <a:prstGeom prst="rect">
            <a:avLst/>
          </a:prstGeom>
          <a:noFill/>
          <a:ln/>
        </p:spPr>
        <p:txBody>
          <a:bodyPr wrap="square" lIns="0" tIns="0" rIns="0" bIns="0" rtlCol="0" anchor="ctr"/>
          <a:lstStyle/>
          <a:p>
            <a:pPr indent="0" marL="0">
              <a:buNone/>
            </a:pPr>
            <a:r>
              <a:rPr lang="en-US" sz="1300" b="1" dirty="0">
                <a:solidFill>
                  <a:srgbClr val="0B2341"/>
                </a:solidFill>
              </a:rPr>
              <a:t>Interpretation</a:t>
            </a:r>
            <a:endParaRPr lang="en-US" sz="1300" dirty="0"/>
          </a:p>
        </p:txBody>
      </p:sp>
      <p:sp>
        <p:nvSpPr>
          <p:cNvPr id="17" name="Text 15"/>
          <p:cNvSpPr/>
          <p:nvPr/>
        </p:nvSpPr>
        <p:spPr>
          <a:xfrm>
            <a:off x="7040880" y="4663440"/>
            <a:ext cx="3840480" cy="594360"/>
          </a:xfrm>
          <a:prstGeom prst="rect">
            <a:avLst/>
          </a:prstGeom>
          <a:noFill/>
          <a:ln/>
        </p:spPr>
        <p:txBody>
          <a:bodyPr wrap="square" lIns="0" tIns="0" rIns="0" bIns="0" rtlCol="0" anchor="ctr">
            <a:normAutofit/>
          </a:bodyPr>
          <a:lstStyle/>
          <a:p>
            <a:pPr indent="0" marL="0">
              <a:buNone/>
            </a:pPr>
            <a:r>
              <a:rPr lang="en-US" sz="1350" dirty="0">
                <a:solidFill>
                  <a:srgbClr val="1F2937"/>
                </a:solidFill>
              </a:rPr>
              <a:t>The model beats a simple benchmark. But average error is only the first question; operational safety matters too.</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8</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The top 10% review list captured 55.5% of severe claims.</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This is the strongest business result from the project.</a:t>
            </a:r>
            <a:endParaRPr lang="en-US" sz="1150" dirty="0"/>
          </a:p>
        </p:txBody>
      </p:sp>
      <p:graphicFrame>
        <p:nvGraphicFramePr>
          <p:cNvPr id="7" name="Chart 0" descr=""/>
          <p:cNvGraphicFramePr/>
          <p:nvPr/>
        </p:nvGraphicFramePr>
        <p:xfrm>
          <a:off x="1051560" y="1508760"/>
          <a:ext cx="8321040" cy="39776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1051560" y="5605272"/>
            <a:ext cx="8321040" cy="228600"/>
          </a:xfrm>
          <a:prstGeom prst="rect">
            <a:avLst/>
          </a:prstGeom>
          <a:noFill/>
          <a:ln/>
        </p:spPr>
        <p:txBody>
          <a:bodyPr wrap="square" lIns="0" tIns="0" rIns="0" bIns="0" rtlCol="0" anchor="ctr"/>
          <a:lstStyle/>
          <a:p>
            <a:pPr indent="0" marL="0">
              <a:buNone/>
            </a:pPr>
            <a:r>
              <a:rPr lang="en-US" sz="900" dirty="0">
                <a:solidFill>
                  <a:srgbClr val="667085"/>
                </a:solidFill>
              </a:rPr>
              <a:t>Severe claim = actual loss at or above the training-set 90th percentile. Holdout sample: 37,664 claims.</a:t>
            </a:r>
            <a:endParaRPr lang="en-US" sz="900" dirty="0"/>
          </a:p>
        </p:txBody>
      </p:sp>
      <p:sp>
        <p:nvSpPr>
          <p:cNvPr id="9" name="Text 6"/>
          <p:cNvSpPr/>
          <p:nvPr/>
        </p:nvSpPr>
        <p:spPr>
          <a:xfrm>
            <a:off x="9692640" y="2148840"/>
            <a:ext cx="1645920" cy="274320"/>
          </a:xfrm>
          <a:prstGeom prst="rect">
            <a:avLst/>
          </a:prstGeom>
          <a:noFill/>
          <a:ln/>
        </p:spPr>
        <p:txBody>
          <a:bodyPr wrap="square" lIns="0" tIns="0" rIns="0" bIns="0" rtlCol="0" anchor="ctr"/>
          <a:lstStyle/>
          <a:p>
            <a:pPr indent="0" marL="0">
              <a:buNone/>
            </a:pPr>
            <a:r>
              <a:rPr lang="en-US" sz="1250" b="1" dirty="0">
                <a:solidFill>
                  <a:srgbClr val="0B2341"/>
                </a:solidFill>
              </a:rPr>
              <a:t>Business meaning</a:t>
            </a:r>
            <a:endParaRPr lang="en-US" sz="1250" dirty="0"/>
          </a:p>
        </p:txBody>
      </p:sp>
      <p:sp>
        <p:nvSpPr>
          <p:cNvPr id="10" name="Text 7"/>
          <p:cNvSpPr/>
          <p:nvPr/>
        </p:nvSpPr>
        <p:spPr>
          <a:xfrm>
            <a:off x="9692640" y="2514600"/>
            <a:ext cx="1828800" cy="822960"/>
          </a:xfrm>
          <a:prstGeom prst="rect">
            <a:avLst/>
          </a:prstGeom>
          <a:noFill/>
          <a:ln/>
        </p:spPr>
        <p:txBody>
          <a:bodyPr wrap="square" lIns="0" tIns="0" rIns="0" bIns="0" rtlCol="0" anchor="ctr">
            <a:normAutofit/>
          </a:bodyPr>
          <a:lstStyle/>
          <a:p>
            <a:pPr indent="0" marL="0">
              <a:buNone/>
            </a:pPr>
            <a:r>
              <a:rPr lang="en-US" sz="1300" dirty="0">
                <a:solidFill>
                  <a:srgbClr val="1F2937"/>
                </a:solidFill>
              </a:rPr>
              <a:t>A small review queue finds a much larger share of severe claims than random selection.</a:t>
            </a:r>
            <a:endParaRPr lang="en-US" sz="1300" dirty="0"/>
          </a:p>
        </p:txBody>
      </p:sp>
      <p:sp>
        <p:nvSpPr>
          <p:cNvPr id="11" name="Text 8"/>
          <p:cNvSpPr/>
          <p:nvPr/>
        </p:nvSpPr>
        <p:spPr>
          <a:xfrm>
            <a:off x="9692640" y="3794760"/>
            <a:ext cx="1828800" cy="594360"/>
          </a:xfrm>
          <a:prstGeom prst="rect">
            <a:avLst/>
          </a:prstGeom>
          <a:noFill/>
          <a:ln/>
        </p:spPr>
        <p:txBody>
          <a:bodyPr wrap="square" lIns="0" tIns="0" rIns="0" bIns="0" rtlCol="0" anchor="ctr">
            <a:normAutofit/>
          </a:bodyPr>
          <a:lstStyle/>
          <a:p>
            <a:pPr indent="0" marL="0">
              <a:buNone/>
            </a:pPr>
            <a:r>
              <a:rPr lang="en-US" sz="1300" b="1" dirty="0">
                <a:solidFill>
                  <a:srgbClr val="F47C20"/>
                </a:solidFill>
              </a:rPr>
              <a:t>Use the rank to decide what should be reviewed earlier.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9</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The review list still missed severe claims.</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That is why existing rules and human judgment should stay in place.</a:t>
            </a:r>
            <a:endParaRPr lang="en-US" sz="1150" dirty="0"/>
          </a:p>
        </p:txBody>
      </p:sp>
      <p:sp>
        <p:nvSpPr>
          <p:cNvPr id="7" name="Text 5"/>
          <p:cNvSpPr/>
          <p:nvPr/>
        </p:nvSpPr>
        <p:spPr>
          <a:xfrm>
            <a:off x="822960" y="1508760"/>
            <a:ext cx="2926080" cy="274320"/>
          </a:xfrm>
          <a:prstGeom prst="rect">
            <a:avLst/>
          </a:prstGeom>
          <a:noFill/>
          <a:ln/>
        </p:spPr>
        <p:txBody>
          <a:bodyPr wrap="square" lIns="0" tIns="0" rIns="0" bIns="0" rtlCol="0" anchor="ctr"/>
          <a:lstStyle/>
          <a:p>
            <a:pPr indent="0" marL="0">
              <a:buNone/>
            </a:pPr>
            <a:r>
              <a:rPr lang="en-US" sz="1500" b="1" dirty="0">
                <a:solidFill>
                  <a:srgbClr val="0B2341"/>
                </a:solidFill>
              </a:rPr>
              <a:t>At the 10% review cutoff:</a:t>
            </a:r>
            <a:endParaRPr lang="en-US" sz="1500" dirty="0"/>
          </a:p>
        </p:txBody>
      </p:sp>
      <p:sp>
        <p:nvSpPr>
          <p:cNvPr id="8" name="Shape 6"/>
          <p:cNvSpPr/>
          <p:nvPr/>
        </p:nvSpPr>
        <p:spPr>
          <a:xfrm>
            <a:off x="1005840" y="2240280"/>
            <a:ext cx="5120640" cy="502920"/>
          </a:xfrm>
          <a:prstGeom prst="rect">
            <a:avLst/>
          </a:prstGeom>
          <a:solidFill>
            <a:srgbClr val="F47C20"/>
          </a:solidFill>
          <a:ln w="12700">
            <a:solidFill>
              <a:srgbClr val="333333">
                <a:alpha val="0"/>
              </a:srgbClr>
            </a:solidFill>
            <a:prstDash val="solid"/>
          </a:ln>
        </p:spPr>
      </p:sp>
      <p:sp>
        <p:nvSpPr>
          <p:cNvPr id="9" name="Shape 7"/>
          <p:cNvSpPr/>
          <p:nvPr/>
        </p:nvSpPr>
        <p:spPr>
          <a:xfrm>
            <a:off x="6126480" y="2240280"/>
            <a:ext cx="4114800" cy="502920"/>
          </a:xfrm>
          <a:prstGeom prst="rect">
            <a:avLst/>
          </a:prstGeom>
          <a:solidFill>
            <a:srgbClr val="C43A31"/>
          </a:solidFill>
          <a:ln w="12700">
            <a:solidFill>
              <a:srgbClr val="333333">
                <a:alpha val="0"/>
              </a:srgbClr>
            </a:solidFill>
            <a:prstDash val="solid"/>
          </a:ln>
        </p:spPr>
      </p:sp>
      <p:sp>
        <p:nvSpPr>
          <p:cNvPr id="10" name="Text 8"/>
          <p:cNvSpPr/>
          <p:nvPr/>
        </p:nvSpPr>
        <p:spPr>
          <a:xfrm>
            <a:off x="1005840" y="2880360"/>
            <a:ext cx="3108960" cy="292608"/>
          </a:xfrm>
          <a:prstGeom prst="rect">
            <a:avLst/>
          </a:prstGeom>
          <a:noFill/>
          <a:ln/>
        </p:spPr>
        <p:txBody>
          <a:bodyPr wrap="square" lIns="0" tIns="0" rIns="0" bIns="0" rtlCol="0" anchor="ctr"/>
          <a:lstStyle/>
          <a:p>
            <a:pPr indent="0" marL="0">
              <a:buNone/>
            </a:pPr>
            <a:r>
              <a:rPr lang="en-US" sz="1300" b="1" dirty="0">
                <a:solidFill>
                  <a:srgbClr val="F47C20"/>
                </a:solidFill>
              </a:rPr>
              <a:t>Captured severe claims: 55.5%</a:t>
            </a:r>
            <a:endParaRPr lang="en-US" sz="1300" dirty="0"/>
          </a:p>
        </p:txBody>
      </p:sp>
      <p:sp>
        <p:nvSpPr>
          <p:cNvPr id="11" name="Text 9"/>
          <p:cNvSpPr/>
          <p:nvPr/>
        </p:nvSpPr>
        <p:spPr>
          <a:xfrm>
            <a:off x="6126480" y="2880360"/>
            <a:ext cx="2926080" cy="292608"/>
          </a:xfrm>
          <a:prstGeom prst="rect">
            <a:avLst/>
          </a:prstGeom>
          <a:noFill/>
          <a:ln/>
        </p:spPr>
        <p:txBody>
          <a:bodyPr wrap="square" lIns="0" tIns="0" rIns="0" bIns="0" rtlCol="0" anchor="ctr"/>
          <a:lstStyle/>
          <a:p>
            <a:pPr indent="0" marL="0">
              <a:buNone/>
            </a:pPr>
            <a:r>
              <a:rPr lang="en-US" sz="1300" b="1" dirty="0">
                <a:solidFill>
                  <a:srgbClr val="C43A31"/>
                </a:solidFill>
              </a:rPr>
              <a:t>Missed severe claims: 1,676</a:t>
            </a:r>
            <a:endParaRPr lang="en-US" sz="1300" dirty="0"/>
          </a:p>
        </p:txBody>
      </p:sp>
      <p:sp>
        <p:nvSpPr>
          <p:cNvPr id="12" name="Text 10"/>
          <p:cNvSpPr/>
          <p:nvPr/>
        </p:nvSpPr>
        <p:spPr>
          <a:xfrm>
            <a:off x="1005840" y="4206240"/>
            <a:ext cx="1828800" cy="274320"/>
          </a:xfrm>
          <a:prstGeom prst="rect">
            <a:avLst/>
          </a:prstGeom>
          <a:noFill/>
          <a:ln/>
        </p:spPr>
        <p:txBody>
          <a:bodyPr wrap="square" lIns="0" tIns="0" rIns="0" bIns="0" rtlCol="0" anchor="ctr"/>
          <a:lstStyle/>
          <a:p>
            <a:pPr indent="0" marL="0">
              <a:buNone/>
            </a:pPr>
            <a:r>
              <a:rPr lang="en-US" sz="1300" b="1" dirty="0">
                <a:solidFill>
                  <a:srgbClr val="0B2341"/>
                </a:solidFill>
              </a:rPr>
              <a:t>What this means</a:t>
            </a:r>
            <a:endParaRPr lang="en-US" sz="1300" dirty="0"/>
          </a:p>
        </p:txBody>
      </p:sp>
      <p:sp>
        <p:nvSpPr>
          <p:cNvPr id="13" name="Text 11"/>
          <p:cNvSpPr/>
          <p:nvPr/>
        </p:nvSpPr>
        <p:spPr>
          <a:xfrm>
            <a:off x="1005840" y="4526280"/>
            <a:ext cx="4572000" cy="594360"/>
          </a:xfrm>
          <a:prstGeom prst="rect">
            <a:avLst/>
          </a:prstGeom>
          <a:noFill/>
          <a:ln/>
        </p:spPr>
        <p:txBody>
          <a:bodyPr wrap="square" lIns="0" tIns="0" rIns="0" bIns="0" rtlCol="0" anchor="ctr">
            <a:normAutofit/>
          </a:bodyPr>
          <a:lstStyle/>
          <a:p>
            <a:pPr indent="0" marL="0">
              <a:buNone/>
            </a:pPr>
            <a:r>
              <a:rPr lang="en-US" sz="1400" dirty="0">
                <a:solidFill>
                  <a:srgbClr val="1F2937"/>
                </a:solidFill>
              </a:rPr>
              <a:t>The score helps choose what to review first. It does not prove that lower-ranked claims are safe to ignore.</a:t>
            </a:r>
            <a:endParaRPr lang="en-US" sz="1400" dirty="0"/>
          </a:p>
        </p:txBody>
      </p:sp>
      <p:sp>
        <p:nvSpPr>
          <p:cNvPr id="14" name="Text 12"/>
          <p:cNvSpPr/>
          <p:nvPr/>
        </p:nvSpPr>
        <p:spPr>
          <a:xfrm>
            <a:off x="6400800" y="4206240"/>
            <a:ext cx="1920240" cy="274320"/>
          </a:xfrm>
          <a:prstGeom prst="rect">
            <a:avLst/>
          </a:prstGeom>
          <a:noFill/>
          <a:ln/>
        </p:spPr>
        <p:txBody>
          <a:bodyPr wrap="square" lIns="0" tIns="0" rIns="0" bIns="0" rtlCol="0" anchor="ctr"/>
          <a:lstStyle/>
          <a:p>
            <a:pPr indent="0" marL="0">
              <a:buNone/>
            </a:pPr>
            <a:r>
              <a:rPr lang="en-US" sz="1300" b="1" dirty="0">
                <a:solidFill>
                  <a:srgbClr val="0B2341"/>
                </a:solidFill>
              </a:rPr>
              <a:t>Recommended use</a:t>
            </a:r>
            <a:endParaRPr lang="en-US" sz="1300" dirty="0"/>
          </a:p>
        </p:txBody>
      </p:sp>
      <p:sp>
        <p:nvSpPr>
          <p:cNvPr id="15" name="Text 13"/>
          <p:cNvSpPr/>
          <p:nvPr/>
        </p:nvSpPr>
        <p:spPr>
          <a:xfrm>
            <a:off x="6400800" y="4526280"/>
            <a:ext cx="3840480" cy="502920"/>
          </a:xfrm>
          <a:prstGeom prst="rect">
            <a:avLst/>
          </a:prstGeom>
          <a:noFill/>
          <a:ln/>
        </p:spPr>
        <p:txBody>
          <a:bodyPr wrap="square" lIns="0" tIns="0" rIns="0" bIns="0" rtlCol="0" anchor="ctr">
            <a:normAutofit/>
          </a:bodyPr>
          <a:lstStyle/>
          <a:p>
            <a:pPr indent="0" marL="0">
              <a:buNone/>
            </a:pPr>
            <a:r>
              <a:rPr lang="en-US" sz="1400" dirty="0">
                <a:solidFill>
                  <a:srgbClr val="1F2937"/>
                </a:solidFill>
              </a:rPr>
              <a:t>Keep existing rules, reviewer overrides, and escalation paths in place.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10</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The model ranks claims better than it predicts exact dollars.</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Higher predicted bands generally had higher actual claim losses.</a:t>
            </a:r>
            <a:endParaRPr lang="en-US" sz="1150" dirty="0"/>
          </a:p>
        </p:txBody>
      </p:sp>
      <p:graphicFrame>
        <p:nvGraphicFramePr>
          <p:cNvPr id="7" name="Chart 0" descr=""/>
          <p:cNvGraphicFramePr/>
          <p:nvPr/>
        </p:nvGraphicFramePr>
        <p:xfrm>
          <a:off x="822960" y="1417320"/>
          <a:ext cx="8412480" cy="4069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9555480" y="2103120"/>
            <a:ext cx="1737360" cy="274320"/>
          </a:xfrm>
          <a:prstGeom prst="rect">
            <a:avLst/>
          </a:prstGeom>
          <a:noFill/>
          <a:ln/>
        </p:spPr>
        <p:txBody>
          <a:bodyPr wrap="square" lIns="0" tIns="0" rIns="0" bIns="0" rtlCol="0" anchor="ctr"/>
          <a:lstStyle/>
          <a:p>
            <a:pPr indent="0" marL="0">
              <a:buNone/>
            </a:pPr>
            <a:r>
              <a:rPr lang="en-US" sz="1250" b="1" dirty="0">
                <a:solidFill>
                  <a:srgbClr val="0B2341"/>
                </a:solidFill>
              </a:rPr>
              <a:t>Decision meaning</a:t>
            </a:r>
            <a:endParaRPr lang="en-US" sz="1250" dirty="0"/>
          </a:p>
        </p:txBody>
      </p:sp>
      <p:sp>
        <p:nvSpPr>
          <p:cNvPr id="9" name="Text 6"/>
          <p:cNvSpPr/>
          <p:nvPr/>
        </p:nvSpPr>
        <p:spPr>
          <a:xfrm>
            <a:off x="9555480" y="2450592"/>
            <a:ext cx="2011680" cy="914400"/>
          </a:xfrm>
          <a:prstGeom prst="rect">
            <a:avLst/>
          </a:prstGeom>
          <a:noFill/>
          <a:ln/>
        </p:spPr>
        <p:txBody>
          <a:bodyPr wrap="square" lIns="0" tIns="0" rIns="0" bIns="0" rtlCol="0" anchor="ctr">
            <a:normAutofit/>
          </a:bodyPr>
          <a:lstStyle/>
          <a:p>
            <a:pPr indent="0" marL="0">
              <a:buNone/>
            </a:pPr>
            <a:r>
              <a:rPr lang="en-US" sz="1350" dirty="0">
                <a:solidFill>
                  <a:srgbClr val="1F2937"/>
                </a:solidFill>
              </a:rPr>
              <a:t>Use the score to say “review this earlier,” not “this is the final cost.”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11</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Very high-severity claims remain the biggest limitation.</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This is the main reason the prediction should not become an automatic reserve amount.</a:t>
            </a:r>
            <a:endParaRPr lang="en-US" sz="1150" dirty="0"/>
          </a:p>
        </p:txBody>
      </p:sp>
      <p:sp>
        <p:nvSpPr>
          <p:cNvPr id="7" name="Text 5"/>
          <p:cNvSpPr/>
          <p:nvPr/>
        </p:nvSpPr>
        <p:spPr>
          <a:xfrm>
            <a:off x="914400" y="1783080"/>
            <a:ext cx="2560320" cy="384048"/>
          </a:xfrm>
          <a:prstGeom prst="rect">
            <a:avLst/>
          </a:prstGeom>
          <a:noFill/>
          <a:ln/>
        </p:spPr>
        <p:txBody>
          <a:bodyPr wrap="square" lIns="0" tIns="0" rIns="0" bIns="0" rtlCol="0" anchor="ctr"/>
          <a:lstStyle/>
          <a:p>
            <a:pPr algn="ctr" indent="0" marL="0">
              <a:buNone/>
            </a:pPr>
            <a:r>
              <a:rPr lang="en-US" sz="2400" b="1" dirty="0">
                <a:solidFill>
                  <a:srgbClr val="C43A31"/>
                </a:solidFill>
              </a:rPr>
              <a:t>85.4%</a:t>
            </a:r>
            <a:endParaRPr lang="en-US" sz="2400" dirty="0"/>
          </a:p>
        </p:txBody>
      </p:sp>
      <p:sp>
        <p:nvSpPr>
          <p:cNvPr id="8" name="Text 6"/>
          <p:cNvSpPr/>
          <p:nvPr/>
        </p:nvSpPr>
        <p:spPr>
          <a:xfrm>
            <a:off x="914400" y="2221992"/>
            <a:ext cx="256032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of very high-severity claims were underpredicted</a:t>
            </a:r>
            <a:endParaRPr lang="en-US" sz="850" dirty="0"/>
          </a:p>
        </p:txBody>
      </p:sp>
      <p:sp>
        <p:nvSpPr>
          <p:cNvPr id="9" name="Text 7"/>
          <p:cNvSpPr/>
          <p:nvPr/>
        </p:nvSpPr>
        <p:spPr>
          <a:xfrm>
            <a:off x="4754880" y="1783080"/>
            <a:ext cx="2560320" cy="384048"/>
          </a:xfrm>
          <a:prstGeom prst="rect">
            <a:avLst/>
          </a:prstGeom>
          <a:noFill/>
          <a:ln/>
        </p:spPr>
        <p:txBody>
          <a:bodyPr wrap="square" lIns="0" tIns="0" rIns="0" bIns="0" rtlCol="0" anchor="ctr"/>
          <a:lstStyle/>
          <a:p>
            <a:pPr algn="ctr" indent="0" marL="0">
              <a:buNone/>
            </a:pPr>
            <a:r>
              <a:rPr lang="en-US" sz="2400" b="1" dirty="0">
                <a:solidFill>
                  <a:srgbClr val="F47C20"/>
                </a:solidFill>
              </a:rPr>
              <a:t>$5,707</a:t>
            </a:r>
            <a:endParaRPr lang="en-US" sz="2400" dirty="0"/>
          </a:p>
        </p:txBody>
      </p:sp>
      <p:sp>
        <p:nvSpPr>
          <p:cNvPr id="10" name="Text 8"/>
          <p:cNvSpPr/>
          <p:nvPr/>
        </p:nvSpPr>
        <p:spPr>
          <a:xfrm>
            <a:off x="4754880" y="2221992"/>
            <a:ext cx="256032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average shortfall when underprediction happened</a:t>
            </a:r>
            <a:endParaRPr lang="en-US" sz="850" dirty="0"/>
          </a:p>
        </p:txBody>
      </p:sp>
      <p:sp>
        <p:nvSpPr>
          <p:cNvPr id="11" name="Text 9"/>
          <p:cNvSpPr/>
          <p:nvPr/>
        </p:nvSpPr>
        <p:spPr>
          <a:xfrm>
            <a:off x="8503920" y="1783080"/>
            <a:ext cx="2560320" cy="384048"/>
          </a:xfrm>
          <a:prstGeom prst="rect">
            <a:avLst/>
          </a:prstGeom>
          <a:noFill/>
          <a:ln/>
        </p:spPr>
        <p:txBody>
          <a:bodyPr wrap="square" lIns="0" tIns="0" rIns="0" bIns="0" rtlCol="0" anchor="ctr"/>
          <a:lstStyle/>
          <a:p>
            <a:pPr algn="ctr" indent="0" marL="0">
              <a:buNone/>
            </a:pPr>
            <a:r>
              <a:rPr lang="en-US" sz="2400" b="1" dirty="0">
                <a:solidFill>
                  <a:srgbClr val="2A6389"/>
                </a:solidFill>
              </a:rPr>
              <a:t>$5,513</a:t>
            </a:r>
            <a:endParaRPr lang="en-US" sz="2400" dirty="0"/>
          </a:p>
        </p:txBody>
      </p:sp>
      <p:sp>
        <p:nvSpPr>
          <p:cNvPr id="12" name="Text 10"/>
          <p:cNvSpPr/>
          <p:nvPr/>
        </p:nvSpPr>
        <p:spPr>
          <a:xfrm>
            <a:off x="8503920" y="2221992"/>
            <a:ext cx="2560320" cy="310896"/>
          </a:xfrm>
          <a:prstGeom prst="rect">
            <a:avLst/>
          </a:prstGeom>
          <a:noFill/>
          <a:ln/>
        </p:spPr>
        <p:txBody>
          <a:bodyPr wrap="square" lIns="254" tIns="254" rIns="254" bIns="254" rtlCol="0" anchor="ctr">
            <a:normAutofit/>
          </a:bodyPr>
          <a:lstStyle/>
          <a:p>
            <a:pPr algn="ctr" indent="0" marL="0">
              <a:buNone/>
            </a:pPr>
            <a:r>
              <a:rPr lang="en-US" sz="850" dirty="0">
                <a:solidFill>
                  <a:srgbClr val="1F2937"/>
                </a:solidFill>
              </a:rPr>
              <a:t>MAE on very high-severity validation claims</a:t>
            </a:r>
            <a:endParaRPr lang="en-US" sz="850" dirty="0"/>
          </a:p>
        </p:txBody>
      </p:sp>
      <p:sp>
        <p:nvSpPr>
          <p:cNvPr id="13" name="Text 11"/>
          <p:cNvSpPr/>
          <p:nvPr/>
        </p:nvSpPr>
        <p:spPr>
          <a:xfrm>
            <a:off x="1005840" y="4160520"/>
            <a:ext cx="1920240" cy="274320"/>
          </a:xfrm>
          <a:prstGeom prst="rect">
            <a:avLst/>
          </a:prstGeom>
          <a:noFill/>
          <a:ln/>
        </p:spPr>
        <p:txBody>
          <a:bodyPr wrap="square" lIns="0" tIns="0" rIns="0" bIns="0" rtlCol="0" anchor="ctr"/>
          <a:lstStyle/>
          <a:p>
            <a:pPr indent="0" marL="0">
              <a:buNone/>
            </a:pPr>
            <a:r>
              <a:rPr lang="en-US" sz="1300" b="1" dirty="0">
                <a:solidFill>
                  <a:srgbClr val="0B2341"/>
                </a:solidFill>
              </a:rPr>
              <a:t>Why this matters</a:t>
            </a:r>
            <a:endParaRPr lang="en-US" sz="1300" dirty="0"/>
          </a:p>
        </p:txBody>
      </p:sp>
      <p:sp>
        <p:nvSpPr>
          <p:cNvPr id="14" name="Text 12"/>
          <p:cNvSpPr/>
          <p:nvPr/>
        </p:nvSpPr>
        <p:spPr>
          <a:xfrm>
            <a:off x="1005840" y="4480560"/>
            <a:ext cx="4114800" cy="658368"/>
          </a:xfrm>
          <a:prstGeom prst="rect">
            <a:avLst/>
          </a:prstGeom>
          <a:noFill/>
          <a:ln/>
        </p:spPr>
        <p:txBody>
          <a:bodyPr wrap="square" lIns="0" tIns="0" rIns="0" bIns="0" rtlCol="0" anchor="ctr">
            <a:normAutofit/>
          </a:bodyPr>
          <a:lstStyle/>
          <a:p>
            <a:pPr indent="0" marL="0">
              <a:buNone/>
            </a:pPr>
            <a:r>
              <a:rPr lang="en-US" sz="1400" dirty="0">
                <a:solidFill>
                  <a:srgbClr val="1F2937"/>
                </a:solidFill>
              </a:rPr>
              <a:t>A large miss on an expensive claim creates more business risk than a small miss on a normal claim.</a:t>
            </a:r>
            <a:endParaRPr lang="en-US" sz="1400" dirty="0"/>
          </a:p>
        </p:txBody>
      </p:sp>
      <p:sp>
        <p:nvSpPr>
          <p:cNvPr id="15" name="Text 13"/>
          <p:cNvSpPr/>
          <p:nvPr/>
        </p:nvSpPr>
        <p:spPr>
          <a:xfrm>
            <a:off x="6583680" y="4160520"/>
            <a:ext cx="2011680" cy="274320"/>
          </a:xfrm>
          <a:prstGeom prst="rect">
            <a:avLst/>
          </a:prstGeom>
          <a:noFill/>
          <a:ln/>
        </p:spPr>
        <p:txBody>
          <a:bodyPr wrap="square" lIns="0" tIns="0" rIns="0" bIns="0" rtlCol="0" anchor="ctr"/>
          <a:lstStyle/>
          <a:p>
            <a:pPr indent="0" marL="0">
              <a:buNone/>
            </a:pPr>
            <a:r>
              <a:rPr lang="en-US" sz="1300" b="1" dirty="0">
                <a:solidFill>
                  <a:srgbClr val="0B2341"/>
                </a:solidFill>
              </a:rPr>
              <a:t>Recommended use</a:t>
            </a:r>
            <a:endParaRPr lang="en-US" sz="1300" dirty="0"/>
          </a:p>
        </p:txBody>
      </p:sp>
      <p:sp>
        <p:nvSpPr>
          <p:cNvPr id="16" name="Text 14"/>
          <p:cNvSpPr/>
          <p:nvPr/>
        </p:nvSpPr>
        <p:spPr>
          <a:xfrm>
            <a:off x="6583680" y="4480560"/>
            <a:ext cx="4206240" cy="658368"/>
          </a:xfrm>
          <a:prstGeom prst="rect">
            <a:avLst/>
          </a:prstGeom>
          <a:noFill/>
          <a:ln/>
        </p:spPr>
        <p:txBody>
          <a:bodyPr wrap="square" lIns="0" tIns="0" rIns="0" bIns="0" rtlCol="0" anchor="ctr">
            <a:normAutofit/>
          </a:bodyPr>
          <a:lstStyle/>
          <a:p>
            <a:pPr indent="0" marL="0">
              <a:buNone/>
            </a:pPr>
            <a:r>
              <a:rPr lang="en-US" sz="1400" dirty="0">
                <a:solidFill>
                  <a:srgbClr val="1F2937"/>
                </a:solidFill>
              </a:rPr>
              <a:t>Do not use the model prediction as the reserve amount. Use high scores to trigger extra review.</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333333">
                <a:alpha val="0"/>
              </a:srgbClr>
            </a:solidFill>
            <a:prstDash val="solid"/>
          </a:ln>
        </p:spPr>
      </p:sp>
      <p:sp>
        <p:nvSpPr>
          <p:cNvPr id="3" name="Text 1"/>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7B8794"/>
                </a:solidFill>
              </a:rPr>
              <a:t>Vasantha Perugu  |  MSDS 696 Practicum II  |  Regis University</a:t>
            </a:r>
            <a:endParaRPr lang="en-US" sz="580" dirty="0"/>
          </a:p>
        </p:txBody>
      </p:sp>
      <p:sp>
        <p:nvSpPr>
          <p:cNvPr id="4" name="Text 2"/>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7B8794"/>
                </a:solidFill>
              </a:rPr>
              <a:t>12</a:t>
            </a:r>
            <a:endParaRPr lang="en-US" sz="600" dirty="0"/>
          </a:p>
        </p:txBody>
      </p:sp>
      <p:sp>
        <p:nvSpPr>
          <p:cNvPr id="5" name="Text 3"/>
          <p:cNvSpPr/>
          <p:nvPr/>
        </p:nvSpPr>
        <p:spPr>
          <a:xfrm>
            <a:off x="502920" y="347472"/>
            <a:ext cx="10972800" cy="438912"/>
          </a:xfrm>
          <a:prstGeom prst="rect">
            <a:avLst/>
          </a:prstGeom>
          <a:noFill/>
          <a:ln/>
        </p:spPr>
        <p:txBody>
          <a:bodyPr wrap="square" lIns="0" tIns="0" rIns="0" bIns="0" rtlCol="0" anchor="ctr">
            <a:normAutofit/>
          </a:bodyPr>
          <a:lstStyle/>
          <a:p>
            <a:pPr indent="0" marL="0">
              <a:buNone/>
            </a:pPr>
            <a:r>
              <a:rPr lang="en-US" sz="2400" b="1" dirty="0">
                <a:solidFill>
                  <a:srgbClr val="0B2341"/>
                </a:solidFill>
                <a:latin typeface="Aptos Display" pitchFamily="34" charset="0"/>
                <a:ea typeface="Aptos Display" pitchFamily="34" charset="-122"/>
                <a:cs typeface="Aptos Display" pitchFamily="34" charset="-120"/>
              </a:rPr>
              <a:t>Validate on newer claims before operational use.</a:t>
            </a:r>
            <a:endParaRPr lang="en-US" sz="2400" dirty="0"/>
          </a:p>
        </p:txBody>
      </p:sp>
      <p:sp>
        <p:nvSpPr>
          <p:cNvPr id="6" name="Text 4"/>
          <p:cNvSpPr/>
          <p:nvPr/>
        </p:nvSpPr>
        <p:spPr>
          <a:xfrm>
            <a:off x="502920" y="832104"/>
            <a:ext cx="10789920" cy="274320"/>
          </a:xfrm>
          <a:prstGeom prst="rect">
            <a:avLst/>
          </a:prstGeom>
          <a:noFill/>
          <a:ln/>
        </p:spPr>
        <p:txBody>
          <a:bodyPr wrap="square" lIns="0" tIns="0" rIns="0" bIns="0" rtlCol="0" anchor="ctr">
            <a:normAutofit/>
          </a:bodyPr>
          <a:lstStyle/>
          <a:p>
            <a:pPr indent="0" marL="0">
              <a:buNone/>
            </a:pPr>
            <a:r>
              <a:rPr lang="en-US" sz="1150" dirty="0">
                <a:solidFill>
                  <a:srgbClr val="667085"/>
                </a:solidFill>
              </a:rPr>
              <a:t>The model should be tested out of time before it enters a live process.</a:t>
            </a:r>
            <a:endParaRPr lang="en-US" sz="1150" dirty="0"/>
          </a:p>
        </p:txBody>
      </p:sp>
      <p:sp>
        <p:nvSpPr>
          <p:cNvPr id="7" name="Text 5"/>
          <p:cNvSpPr/>
          <p:nvPr/>
        </p:nvSpPr>
        <p:spPr>
          <a:xfrm>
            <a:off x="777240" y="1828800"/>
            <a:ext cx="2926080" cy="1051560"/>
          </a:xfrm>
          <a:prstGeom prst="rect">
            <a:avLst/>
          </a:prstGeom>
          <a:solidFill>
            <a:srgbClr val="EAF2F8"/>
          </a:solidFill>
          <a:ln>
            <a:solidFill>
              <a:srgbClr val="EAF2F8">
                <a:alpha val="0"/>
              </a:srgbClr>
            </a:solidFill>
          </a:ln>
        </p:spPr>
        <p:txBody>
          <a:bodyPr wrap="square" lIns="762" tIns="762" rIns="762" bIns="762" rtlCol="0" anchor="ctr">
            <a:normAutofit/>
          </a:bodyPr>
          <a:lstStyle/>
          <a:p>
            <a:pPr algn="ctr" indent="0" marL="0">
              <a:buNone/>
            </a:pPr>
            <a:r>
              <a:rPr lang="en-US" sz="1100" b="1" dirty="0">
                <a:solidFill>
                  <a:srgbClr val="0B2341"/>
                </a:solidFill>
              </a:rPr>
              <a:t>1</a:t>
            </a:r>
            <a:endParaRPr lang="en-US" sz="1100" dirty="0"/>
          </a:p>
          <a:p>
            <a:pPr algn="ctr" indent="0" marL="0">
              <a:buNone/>
            </a:pPr>
            <a:r>
              <a:rPr lang="en-US" sz="1100" b="1" dirty="0">
                <a:solidFill>
                  <a:srgbClr val="0B2341"/>
                </a:solidFill>
              </a:rPr>
              <a:t>Validate on newer claims</a:t>
            </a:r>
            <a:endParaRPr lang="en-US" sz="1100" dirty="0"/>
          </a:p>
          <a:p>
            <a:pPr algn="ctr" indent="0" marL="0">
              <a:buNone/>
            </a:pPr>
            <a:r>
              <a:rPr lang="en-US" sz="1100" b="1" dirty="0">
                <a:solidFill>
                  <a:srgbClr val="0B2341"/>
                </a:solidFill>
              </a:rPr>
              <a:t>Use only fields available at initial reporting.</a:t>
            </a:r>
            <a:endParaRPr lang="en-US" sz="1100" dirty="0"/>
          </a:p>
        </p:txBody>
      </p:sp>
      <p:sp>
        <p:nvSpPr>
          <p:cNvPr id="8" name="Shape 6"/>
          <p:cNvSpPr/>
          <p:nvPr/>
        </p:nvSpPr>
        <p:spPr>
          <a:xfrm>
            <a:off x="3886200" y="2359152"/>
            <a:ext cx="457200" cy="0"/>
          </a:xfrm>
          <a:prstGeom prst="line">
            <a:avLst/>
          </a:prstGeom>
          <a:noFill/>
          <a:ln w="20320">
            <a:solidFill>
              <a:srgbClr val="F47C20"/>
            </a:solidFill>
            <a:prstDash val="solid"/>
            <a:headEnd type="none"/>
            <a:tailEnd type="triangle"/>
          </a:ln>
        </p:spPr>
      </p:sp>
      <p:sp>
        <p:nvSpPr>
          <p:cNvPr id="9" name="Text 7"/>
          <p:cNvSpPr/>
          <p:nvPr/>
        </p:nvSpPr>
        <p:spPr>
          <a:xfrm>
            <a:off x="4526280" y="1828800"/>
            <a:ext cx="2926080" cy="1051560"/>
          </a:xfrm>
          <a:prstGeom prst="rect">
            <a:avLst/>
          </a:prstGeom>
          <a:solidFill>
            <a:srgbClr val="FFF1E6"/>
          </a:solidFill>
          <a:ln>
            <a:solidFill>
              <a:srgbClr val="FFF1E6">
                <a:alpha val="0"/>
              </a:srgbClr>
            </a:solidFill>
          </a:ln>
        </p:spPr>
        <p:txBody>
          <a:bodyPr wrap="square" lIns="762" tIns="762" rIns="762" bIns="762" rtlCol="0" anchor="ctr">
            <a:normAutofit/>
          </a:bodyPr>
          <a:lstStyle/>
          <a:p>
            <a:pPr algn="ctr" indent="0" marL="0">
              <a:buNone/>
            </a:pPr>
            <a:r>
              <a:rPr lang="en-US" sz="1100" b="1" dirty="0">
                <a:solidFill>
                  <a:srgbClr val="0B2341"/>
                </a:solidFill>
              </a:rPr>
              <a:t>2</a:t>
            </a:r>
            <a:endParaRPr lang="en-US" sz="1100" dirty="0"/>
          </a:p>
          <a:p>
            <a:pPr algn="ctr" indent="0" marL="0">
              <a:buNone/>
            </a:pPr>
            <a:r>
              <a:rPr lang="en-US" sz="1100" b="1" dirty="0">
                <a:solidFill>
                  <a:srgbClr val="0B2341"/>
                </a:solidFill>
              </a:rPr>
              <a:t>Run a small review pilot</a:t>
            </a:r>
            <a:endParaRPr lang="en-US" sz="1100" dirty="0"/>
          </a:p>
          <a:p>
            <a:pPr algn="ctr" indent="0" marL="0">
              <a:buNone/>
            </a:pPr>
            <a:r>
              <a:rPr lang="en-US" sz="1100" b="1" dirty="0">
                <a:solidFill>
                  <a:srgbClr val="0B2341"/>
                </a:solidFill>
              </a:rPr>
              <a:t>Send highest-ranked claims to extra review.</a:t>
            </a:r>
            <a:endParaRPr lang="en-US" sz="1100" dirty="0"/>
          </a:p>
        </p:txBody>
      </p:sp>
      <p:sp>
        <p:nvSpPr>
          <p:cNvPr id="10" name="Shape 8"/>
          <p:cNvSpPr/>
          <p:nvPr/>
        </p:nvSpPr>
        <p:spPr>
          <a:xfrm>
            <a:off x="7635240" y="2359152"/>
            <a:ext cx="457200" cy="0"/>
          </a:xfrm>
          <a:prstGeom prst="line">
            <a:avLst/>
          </a:prstGeom>
          <a:noFill/>
          <a:ln w="20320">
            <a:solidFill>
              <a:srgbClr val="F47C20"/>
            </a:solidFill>
            <a:prstDash val="solid"/>
            <a:headEnd type="none"/>
            <a:tailEnd type="triangle"/>
          </a:ln>
        </p:spPr>
      </p:sp>
      <p:sp>
        <p:nvSpPr>
          <p:cNvPr id="11" name="Text 9"/>
          <p:cNvSpPr/>
          <p:nvPr/>
        </p:nvSpPr>
        <p:spPr>
          <a:xfrm>
            <a:off x="8275320" y="1828800"/>
            <a:ext cx="2926080" cy="1051560"/>
          </a:xfrm>
          <a:prstGeom prst="rect">
            <a:avLst/>
          </a:prstGeom>
          <a:solidFill>
            <a:srgbClr val="EAF5EE"/>
          </a:solidFill>
          <a:ln>
            <a:solidFill>
              <a:srgbClr val="EAF5EE">
                <a:alpha val="0"/>
              </a:srgbClr>
            </a:solidFill>
          </a:ln>
        </p:spPr>
        <p:txBody>
          <a:bodyPr wrap="square" lIns="762" tIns="762" rIns="762" bIns="762" rtlCol="0" anchor="ctr">
            <a:normAutofit/>
          </a:bodyPr>
          <a:lstStyle/>
          <a:p>
            <a:pPr algn="ctr" indent="0" marL="0">
              <a:buNone/>
            </a:pPr>
            <a:r>
              <a:rPr lang="en-US" sz="1100" b="1" dirty="0">
                <a:solidFill>
                  <a:srgbClr val="0B2341"/>
                </a:solidFill>
              </a:rPr>
              <a:t>3</a:t>
            </a:r>
            <a:endParaRPr lang="en-US" sz="1100" dirty="0"/>
          </a:p>
          <a:p>
            <a:pPr algn="ctr" indent="0" marL="0">
              <a:buNone/>
            </a:pPr>
            <a:r>
              <a:rPr lang="en-US" sz="1100" b="1" dirty="0">
                <a:solidFill>
                  <a:srgbClr val="0B2341"/>
                </a:solidFill>
              </a:rPr>
              <a:t>Monitor misses and overrides</a:t>
            </a:r>
            <a:endParaRPr lang="en-US" sz="1100" dirty="0"/>
          </a:p>
          <a:p>
            <a:pPr algn="ctr" indent="0" marL="0">
              <a:buNone/>
            </a:pPr>
            <a:r>
              <a:rPr lang="en-US" sz="1100" b="1" dirty="0">
                <a:solidFill>
                  <a:srgbClr val="0B2341"/>
                </a:solidFill>
              </a:rPr>
              <a:t>Track severe claims missed before expanding.</a:t>
            </a:r>
            <a:endParaRPr lang="en-US" sz="1100" dirty="0"/>
          </a:p>
        </p:txBody>
      </p:sp>
      <p:sp>
        <p:nvSpPr>
          <p:cNvPr id="12" name="Text 10"/>
          <p:cNvSpPr/>
          <p:nvPr/>
        </p:nvSpPr>
        <p:spPr>
          <a:xfrm>
            <a:off x="960120" y="4343400"/>
            <a:ext cx="1097280" cy="274320"/>
          </a:xfrm>
          <a:prstGeom prst="rect">
            <a:avLst/>
          </a:prstGeom>
          <a:noFill/>
          <a:ln/>
        </p:spPr>
        <p:txBody>
          <a:bodyPr wrap="square" lIns="0" tIns="0" rIns="0" bIns="0" rtlCol="0" anchor="ctr"/>
          <a:lstStyle/>
          <a:p>
            <a:pPr indent="0" marL="0">
              <a:buNone/>
            </a:pPr>
            <a:r>
              <a:rPr lang="en-US" sz="1300" b="1" dirty="0">
                <a:solidFill>
                  <a:srgbClr val="C43A31"/>
                </a:solidFill>
              </a:rPr>
              <a:t>Guardrail</a:t>
            </a:r>
            <a:endParaRPr lang="en-US" sz="1300" dirty="0"/>
          </a:p>
        </p:txBody>
      </p:sp>
      <p:sp>
        <p:nvSpPr>
          <p:cNvPr id="13" name="Text 11"/>
          <p:cNvSpPr/>
          <p:nvPr/>
        </p:nvSpPr>
        <p:spPr>
          <a:xfrm>
            <a:off x="2057400" y="4343400"/>
            <a:ext cx="8046720" cy="320040"/>
          </a:xfrm>
          <a:prstGeom prst="rect">
            <a:avLst/>
          </a:prstGeom>
          <a:noFill/>
          <a:ln/>
        </p:spPr>
        <p:txBody>
          <a:bodyPr wrap="square" lIns="0" tIns="0" rIns="0" bIns="0" rtlCol="0" anchor="ctr">
            <a:normAutofit/>
          </a:bodyPr>
          <a:lstStyle/>
          <a:p>
            <a:pPr indent="0" marL="0">
              <a:buNone/>
            </a:pPr>
            <a:r>
              <a:rPr lang="en-US" sz="1400" b="1" dirty="0">
                <a:solidFill>
                  <a:srgbClr val="C43A31"/>
                </a:solidFill>
              </a:rPr>
              <a:t>Do not use the score alone to set reserves, approve claims, settle claims, or assign adjusters.</a:t>
            </a:r>
            <a:endParaRPr lang="en-US" sz="1400" dirty="0"/>
          </a:p>
        </p:txBody>
      </p:sp>
      <p:sp>
        <p:nvSpPr>
          <p:cNvPr id="14" name="Text 12"/>
          <p:cNvSpPr/>
          <p:nvPr/>
        </p:nvSpPr>
        <p:spPr>
          <a:xfrm>
            <a:off x="2743200" y="5074920"/>
            <a:ext cx="6583680" cy="274320"/>
          </a:xfrm>
          <a:prstGeom prst="rect">
            <a:avLst/>
          </a:prstGeom>
          <a:noFill/>
          <a:ln/>
        </p:spPr>
        <p:txBody>
          <a:bodyPr wrap="square" lIns="0" tIns="0" rIns="0" bIns="0" rtlCol="0" anchor="ctr"/>
          <a:lstStyle/>
          <a:p>
            <a:pPr algn="ctr" indent="0" marL="0">
              <a:buNone/>
            </a:pPr>
            <a:r>
              <a:rPr lang="en-US" sz="1250" dirty="0">
                <a:solidFill>
                  <a:srgbClr val="667085"/>
                </a:solidFill>
              </a:rPr>
              <a:t>If validation does not hold, the model should remain an analysis project.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341"/>
        </a:solidFill>
      </p:bgPr>
    </p:bg>
    <p:spTree>
      <p:nvGrpSpPr>
        <p:cNvPr id="1" name=""/>
        <p:cNvGrpSpPr/>
        <p:nvPr/>
      </p:nvGrpSpPr>
      <p:grpSpPr>
        <a:xfrm>
          <a:off x="0" y="0"/>
          <a:ext cx="0" cy="0"/>
          <a:chOff x="0" y="0"/>
          <a:chExt cx="0" cy="0"/>
        </a:xfrm>
      </p:grpSpPr>
      <p:sp>
        <p:nvSpPr>
          <p:cNvPr id="2" name="Text 0"/>
          <p:cNvSpPr/>
          <p:nvPr/>
        </p:nvSpPr>
        <p:spPr>
          <a:xfrm>
            <a:off x="411480" y="6565392"/>
            <a:ext cx="6858000" cy="164592"/>
          </a:xfrm>
          <a:prstGeom prst="rect">
            <a:avLst/>
          </a:prstGeom>
          <a:noFill/>
          <a:ln/>
        </p:spPr>
        <p:txBody>
          <a:bodyPr wrap="square" lIns="0" tIns="0" rIns="0" bIns="0" rtlCol="0" anchor="ctr"/>
          <a:lstStyle/>
          <a:p>
            <a:pPr indent="0" marL="0">
              <a:buNone/>
            </a:pPr>
            <a:r>
              <a:rPr lang="en-US" sz="580" dirty="0">
                <a:solidFill>
                  <a:srgbClr val="D8E1EA"/>
                </a:solidFill>
              </a:rPr>
              <a:t>Vasantha Perugu  |  MSDS 696 Practicum II  |  Regis University</a:t>
            </a:r>
            <a:endParaRPr lang="en-US" sz="580" dirty="0"/>
          </a:p>
        </p:txBody>
      </p:sp>
      <p:sp>
        <p:nvSpPr>
          <p:cNvPr id="3" name="Text 1"/>
          <p:cNvSpPr/>
          <p:nvPr/>
        </p:nvSpPr>
        <p:spPr>
          <a:xfrm>
            <a:off x="777240" y="731520"/>
            <a:ext cx="4572000" cy="365760"/>
          </a:xfrm>
          <a:prstGeom prst="rect">
            <a:avLst/>
          </a:prstGeom>
          <a:noFill/>
          <a:ln/>
        </p:spPr>
        <p:txBody>
          <a:bodyPr wrap="square" lIns="0" tIns="0" rIns="0" bIns="0" rtlCol="0" anchor="ctr"/>
          <a:lstStyle/>
          <a:p>
            <a:pPr indent="0" marL="0">
              <a:buNone/>
            </a:pPr>
            <a:r>
              <a:rPr lang="en-US" sz="1800" b="1" dirty="0">
                <a:solidFill>
                  <a:srgbClr val="F47C20"/>
                </a:solidFill>
              </a:rPr>
              <a:t>Final recommendation</a:t>
            </a:r>
            <a:endParaRPr lang="en-US" sz="1800" dirty="0"/>
          </a:p>
        </p:txBody>
      </p:sp>
      <p:sp>
        <p:nvSpPr>
          <p:cNvPr id="4" name="Text 2"/>
          <p:cNvSpPr/>
          <p:nvPr/>
        </p:nvSpPr>
        <p:spPr>
          <a:xfrm>
            <a:off x="777240" y="1234440"/>
            <a:ext cx="804672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Use the score as a human-review signal.</a:t>
            </a:r>
            <a:endParaRPr lang="en-US" sz="2800" dirty="0"/>
          </a:p>
        </p:txBody>
      </p:sp>
      <p:sp>
        <p:nvSpPr>
          <p:cNvPr id="5" name="Text 3"/>
          <p:cNvSpPr/>
          <p:nvPr/>
        </p:nvSpPr>
        <p:spPr>
          <a:xfrm>
            <a:off x="804672" y="2011680"/>
            <a:ext cx="8229600" cy="320040"/>
          </a:xfrm>
          <a:prstGeom prst="rect">
            <a:avLst/>
          </a:prstGeom>
          <a:noFill/>
          <a:ln/>
        </p:spPr>
        <p:txBody>
          <a:bodyPr wrap="square" lIns="0" tIns="0" rIns="0" bIns="0" rtlCol="0" anchor="ctr"/>
          <a:lstStyle/>
          <a:p>
            <a:pPr indent="0" marL="0">
              <a:buNone/>
            </a:pPr>
            <a:r>
              <a:rPr lang="en-US" sz="1400" dirty="0">
                <a:solidFill>
                  <a:srgbClr val="D8E1EA"/>
                </a:solidFill>
              </a:rPr>
              <a:t>The project creates a practical review workflow while keeping the model’s limits clear.</a:t>
            </a:r>
            <a:endParaRPr lang="en-US" sz="1400" dirty="0"/>
          </a:p>
        </p:txBody>
      </p:sp>
      <p:sp>
        <p:nvSpPr>
          <p:cNvPr id="6" name="Text 4"/>
          <p:cNvSpPr/>
          <p:nvPr/>
        </p:nvSpPr>
        <p:spPr>
          <a:xfrm>
            <a:off x="960120" y="2971800"/>
            <a:ext cx="2011680" cy="274320"/>
          </a:xfrm>
          <a:prstGeom prst="rect">
            <a:avLst/>
          </a:prstGeom>
          <a:noFill/>
          <a:ln/>
        </p:spPr>
        <p:txBody>
          <a:bodyPr wrap="square" lIns="0" tIns="0" rIns="0" bIns="0" rtlCol="0" anchor="ctr"/>
          <a:lstStyle/>
          <a:p>
            <a:pPr indent="0" marL="0">
              <a:buNone/>
            </a:pPr>
            <a:r>
              <a:rPr lang="en-US" sz="1300" b="1" dirty="0">
                <a:solidFill>
                  <a:srgbClr val="FFFFFF"/>
                </a:solidFill>
              </a:rPr>
              <a:t>Project outcome</a:t>
            </a:r>
            <a:endParaRPr lang="en-US" sz="1300" dirty="0"/>
          </a:p>
        </p:txBody>
      </p:sp>
      <p:sp>
        <p:nvSpPr>
          <p:cNvPr id="7" name="Text 5"/>
          <p:cNvSpPr/>
          <p:nvPr/>
        </p:nvSpPr>
        <p:spPr>
          <a:xfrm>
            <a:off x="960120" y="3364992"/>
            <a:ext cx="6126480" cy="1051560"/>
          </a:xfrm>
          <a:prstGeom prst="rect">
            <a:avLst/>
          </a:prstGeom>
          <a:noFill/>
          <a:ln/>
        </p:spPr>
        <p:txBody>
          <a:bodyPr wrap="square" lIns="254" tIns="254" rIns="254" bIns="254" rtlCol="0" anchor="ctr">
            <a:normAutofit/>
          </a:bodyPr>
          <a:lstStyle/>
          <a:p>
            <a:pPr indent="0" marL="0">
              <a:buNone/>
            </a:pPr>
            <a:r>
              <a:rPr lang="en-US" sz="1500" dirty="0">
                <a:solidFill>
                  <a:srgbClr val="FFFFFF"/>
                </a:solidFill>
              </a:rPr>
              <a:t>• Built and tested a reproducible claim-severity model</a:t>
            </a:r>
            <a:endParaRPr lang="en-US" sz="1500" dirty="0"/>
          </a:p>
          <a:p>
            <a:pPr indent="0" marL="0">
              <a:buNone/>
            </a:pPr>
            <a:r>
              <a:rPr lang="en-US" sz="1500" dirty="0">
                <a:solidFill>
                  <a:srgbClr val="FFFFFF"/>
                </a:solidFill>
              </a:rPr>
              <a:t>• Reduced MAE by 30.2% versus the median baseline</a:t>
            </a:r>
            <a:endParaRPr lang="en-US" sz="1500" dirty="0"/>
          </a:p>
          <a:p>
            <a:pPr indent="0" marL="0">
              <a:buNone/>
            </a:pPr>
            <a:r>
              <a:rPr lang="en-US" sz="1500" dirty="0">
                <a:solidFill>
                  <a:srgbClr val="FFFFFF"/>
                </a:solidFill>
              </a:rPr>
              <a:t>• Captured 55.5% of severe claims in a 10% review queue</a:t>
            </a:r>
            <a:endParaRPr lang="en-US" sz="1500" dirty="0"/>
          </a:p>
        </p:txBody>
      </p:sp>
      <p:sp>
        <p:nvSpPr>
          <p:cNvPr id="8" name="Text 6"/>
          <p:cNvSpPr/>
          <p:nvPr/>
        </p:nvSpPr>
        <p:spPr>
          <a:xfrm>
            <a:off x="960120" y="4800600"/>
            <a:ext cx="2377440" cy="274320"/>
          </a:xfrm>
          <a:prstGeom prst="rect">
            <a:avLst/>
          </a:prstGeom>
          <a:noFill/>
          <a:ln/>
        </p:spPr>
        <p:txBody>
          <a:bodyPr wrap="square" lIns="0" tIns="0" rIns="0" bIns="0" rtlCol="0" anchor="ctr"/>
          <a:lstStyle/>
          <a:p>
            <a:pPr indent="0" marL="0">
              <a:buNone/>
            </a:pPr>
            <a:r>
              <a:rPr lang="en-US" sz="1300" b="1" dirty="0">
                <a:solidFill>
                  <a:srgbClr val="F47C20"/>
                </a:solidFill>
              </a:rPr>
              <a:t>Recommended next step</a:t>
            </a:r>
            <a:endParaRPr lang="en-US" sz="1300" dirty="0"/>
          </a:p>
        </p:txBody>
      </p:sp>
      <p:sp>
        <p:nvSpPr>
          <p:cNvPr id="9" name="Text 7"/>
          <p:cNvSpPr/>
          <p:nvPr/>
        </p:nvSpPr>
        <p:spPr>
          <a:xfrm>
            <a:off x="960120" y="5166360"/>
            <a:ext cx="7315200" cy="457200"/>
          </a:xfrm>
          <a:prstGeom prst="rect">
            <a:avLst/>
          </a:prstGeom>
          <a:noFill/>
          <a:ln/>
        </p:spPr>
        <p:txBody>
          <a:bodyPr wrap="square" lIns="0" tIns="0" rIns="0" bIns="0" rtlCol="0" anchor="ctr">
            <a:normAutofit/>
          </a:bodyPr>
          <a:lstStyle/>
          <a:p>
            <a:pPr indent="0" marL="0">
              <a:buNone/>
            </a:pPr>
            <a:r>
              <a:rPr lang="en-US" sz="1600" b="1" dirty="0">
                <a:solidFill>
                  <a:srgbClr val="FFFFFF"/>
                </a:solidFill>
              </a:rPr>
              <a:t>Validate on newer claims, then use the score only as an additional signal for human reserve review.</a:t>
            </a:r>
            <a:endParaRPr lang="en-US" sz="1600" dirty="0"/>
          </a:p>
        </p:txBody>
      </p:sp>
      <p:sp>
        <p:nvSpPr>
          <p:cNvPr id="10" name="Text 8"/>
          <p:cNvSpPr/>
          <p:nvPr/>
        </p:nvSpPr>
        <p:spPr>
          <a:xfrm>
            <a:off x="11658600" y="6547104"/>
            <a:ext cx="228600" cy="164592"/>
          </a:xfrm>
          <a:prstGeom prst="rect">
            <a:avLst/>
          </a:prstGeom>
          <a:noFill/>
          <a:ln/>
        </p:spPr>
        <p:txBody>
          <a:bodyPr wrap="square" lIns="0" tIns="0" rIns="0" bIns="0" rtlCol="0" anchor="ctr"/>
          <a:lstStyle/>
          <a:p>
            <a:pPr algn="r" indent="0" marL="0">
              <a:buNone/>
            </a:pPr>
            <a:r>
              <a:rPr lang="en-US" sz="600" dirty="0">
                <a:solidFill>
                  <a:srgbClr val="D8E1EA"/>
                </a:solidFill>
              </a:rPr>
              <a:t>13</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Regis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Insurance Claim Severity for Decision Support</dc:title>
  <dc:subject>Predicting Insurance Claim Severity for Decision Support</dc:subject>
  <dc:creator>Vasantha Perugu</dc:creator>
  <cp:lastModifiedBy>Vasantha Perugu</cp:lastModifiedBy>
  <cp:revision>1</cp:revision>
  <dcterms:created xsi:type="dcterms:W3CDTF">2026-08-15T14:46:22Z</dcterms:created>
  <dcterms:modified xsi:type="dcterms:W3CDTF">2026-08-15T14:46:22Z</dcterms:modified>
</cp:coreProperties>
</file>